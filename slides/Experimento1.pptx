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Recall@3 por necesidad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Q0</c:v>
                </c:pt>
              </c:strCache>
            </c:strRef>
          </c:tx>
          <c:dLbls>
            <c:dLbl>
              <c:idx val="0"/>
              <c:tx>
                <c:rich>
                  <a:bodyPr/>
                  <a:lstStyle/>
                  <a:p>
                    <a:r>
                      <a:rPr sz="1100"/>
                      <a:t>0,50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/>
                      <a:t>0,50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/>
                      <a:t>0,33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/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N1</c:v>
                </c:pt>
                <c:pt idx="1">
                  <c:v>N2</c:v>
                </c:pt>
                <c:pt idx="2">
                  <c:v>N3</c:v>
                </c:pt>
                <c:pt idx="3">
                  <c:v>N4</c:v>
                </c:pt>
                <c:pt idx="4">
                  <c:v>N5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0.0</c:v>
                </c:pt>
                <c:pt idx="2">
                  <c:v>0.5</c:v>
                </c:pt>
                <c:pt idx="3">
                  <c:v>0.3333333333333333</c:v>
                </c:pt>
                <c:pt idx="4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Q1</c:v>
                </c:pt>
              </c:strCache>
            </c:strRef>
          </c:tx>
          <c:dLbls>
            <c:dLbl>
              <c:idx val="0"/>
              <c:tx>
                <c:rich>
                  <a:bodyPr/>
                  <a:lstStyle/>
                  <a:p>
                    <a:r>
                      <a:rPr sz="1100"/>
                      <a:t>0,50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/>
                      <a:t>0,50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/>
                      <a:t>0,33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/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N1</c:v>
                </c:pt>
                <c:pt idx="1">
                  <c:v>N2</c:v>
                </c:pt>
                <c:pt idx="2">
                  <c:v>N3</c:v>
                </c:pt>
                <c:pt idx="3">
                  <c:v>N4</c:v>
                </c:pt>
                <c:pt idx="4">
                  <c:v>N5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</c:v>
                </c:pt>
                <c:pt idx="1">
                  <c:v>0.0</c:v>
                </c:pt>
                <c:pt idx="2">
                  <c:v>0.5</c:v>
                </c:pt>
                <c:pt idx="3">
                  <c:v>0.3333333333333333</c:v>
                </c:pt>
                <c:pt idx="4">
                  <c:v>1.0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la parte de la Semana 3 (salida estructurada y validación) conectada con la Semana 4 (recuperación).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dos rutas terminan en el mismo recuperador, así que cualquier diferencia solo puede venir de la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schema solo verifica que el valor esté dentro de los permitidos, no que sea el correcto.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15600" cy="1645920"/>
          </a:xfrm>
        </p:spPr>
        <p:txBody>
          <a:bodyPr/>
          <a:lstStyle/>
          <a:p>
            <a:r>
              <a:t>Experimento 1: consulta original vs consulta estructurada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914400"/>
          </a:xfrm>
        </p:spPr>
        <p:txBody>
          <a:bodyPr/>
          <a:lstStyle/>
          <a:p>
            <a:r>
              <a:t>PC2 - Tópicos de Ciencia de la Computación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¿De qué trata el experimento?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El auditor escribe una necesidad de información en lenguaje natural</a:t>
            </a:r>
          </a:p>
          <a:p>
            <a:pPr lvl="1">
              <a:spcAft>
                <a:spcPts val="1000"/>
              </a:spcAft>
            </a:pPr>
            <a:r>
              <a:rPr sz="1900"/>
              <a:t>- Ejemplo: ¿Qué empresa ganó la compra de reactivos para el equipo Mindray?</a:t>
            </a:r>
          </a:p>
          <a:p>
            <a:pPr>
              <a:spcAft>
                <a:spcPts val="1000"/>
              </a:spcAft>
            </a:pPr>
            <a:r>
              <a:rPr sz="2200"/>
              <a:t>• Antes de buscar, un LLM la convierte en una consulta estructurada (un JSON)</a:t>
            </a:r>
          </a:p>
          <a:p>
            <a:pPr>
              <a:spcAft>
                <a:spcPts val="1000"/>
              </a:spcAft>
            </a:pPr>
            <a:r>
              <a:rPr sz="2200"/>
              <a:t>• Pregunta: ¿esa transformación conserva, mejora o empeora lo que se quería encontrar?</a:t>
            </a:r>
          </a:p>
          <a:p>
            <a:pPr>
              <a:spcAft>
                <a:spcPts val="1000"/>
              </a:spcAft>
            </a:pPr>
            <a:r>
              <a:rPr sz="2200"/>
              <a:t>• No se exige demostrar que la consulta del LLM sea mejor, solo observar qué pasó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Qué se compara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0" y="1371600"/>
            <a:ext cx="356616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Necesidad del auditor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(una de las 5)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2926080" y="2194560"/>
            <a:ext cx="2194560" cy="6400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040880" y="2194560"/>
            <a:ext cx="2194560" cy="6400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2834640"/>
            <a:ext cx="4023360" cy="9144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Q0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La necesidad tal como se escribió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2834640"/>
            <a:ext cx="4023360" cy="9144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Q1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Campo query del JSON del LLM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235440" y="3749039"/>
            <a:ext cx="0" cy="45720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223760" y="4206240"/>
            <a:ext cx="402336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Qwen2.5-0.5B + validación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(parseable, schema, intención)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3749039"/>
            <a:ext cx="1828800" cy="164592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498079" y="5029200"/>
            <a:ext cx="1737361" cy="36576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97680" y="5394960"/>
            <a:ext cx="356616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Mismo recuperador</a:t>
            </a:r>
          </a:p>
          <a:p>
            <a:pPr algn="ctr"/>
            <a:r>
              <a:rPr sz="1600">
                <a:solidFill>
                  <a:srgbClr val="000000"/>
                </a:solidFill>
              </a:rPr>
              <a:t>(e5 + FAISS, chunks de 180 palabras)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Qué se mantiene igual y qué se mide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Se mantiene igual: corpus (10 fichas), chunks de 180 palabras, modelo e5-small, FAISS, top-k y qrels</a:t>
            </a:r>
          </a:p>
          <a:p>
            <a:pPr>
              <a:spcAft>
                <a:spcPts val="1000"/>
              </a:spcAft>
            </a:pPr>
            <a:r>
              <a:rPr sz="2200"/>
              <a:t>• Solo cambia la consulta, por eso la diferencia se puede atribuir a ella</a:t>
            </a:r>
          </a:p>
          <a:p>
            <a:pPr>
              <a:spcAft>
                <a:spcPts val="1000"/>
              </a:spcAft>
            </a:pPr>
            <a:r>
              <a:rPr sz="2200"/>
              <a:t>• Sobre el JSON del LLM se mide:</a:t>
            </a:r>
          </a:p>
          <a:p>
            <a:pPr lvl="1">
              <a:spcAft>
                <a:spcPts val="1000"/>
              </a:spcAft>
            </a:pPr>
            <a:r>
              <a:rPr sz="1900"/>
              <a:t>- schema_valid_rate: ¿cumple el formato?</a:t>
            </a:r>
          </a:p>
          <a:p>
            <a:pPr lvl="1">
              <a:spcAft>
                <a:spcPts val="1000"/>
              </a:spcAft>
            </a:pPr>
            <a:r>
              <a:rPr sz="1900"/>
              <a:t>- intención correcta: ¿la intención coincide con la esperada?</a:t>
            </a:r>
          </a:p>
          <a:p>
            <a:pPr>
              <a:spcAft>
                <a:spcPts val="1000"/>
              </a:spcAft>
            </a:pPr>
            <a:r>
              <a:rPr sz="2200"/>
              <a:t>• Sobre la recuperación se mide:</a:t>
            </a:r>
          </a:p>
          <a:p>
            <a:pPr lvl="1">
              <a:spcAft>
                <a:spcPts val="1000"/>
              </a:spcAft>
            </a:pPr>
            <a:r>
              <a:rPr sz="1900"/>
              <a:t>- Recall@1, Recall@3 y Recall@5 de Q0 y de Q1</a:t>
            </a:r>
          </a:p>
          <a:p>
            <a:pPr lvl="1">
              <a:spcAft>
                <a:spcPts val="1000"/>
              </a:spcAft>
            </a:pPr>
            <a:r>
              <a:rPr sz="1900"/>
              <a:t>- Jaccard del top-3: cuánto coinciden los fragmentos recuperados por ambas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Resultados: el formato del JSON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6400800"/>
              </a:tblGrid>
              <a:tr h="384048">
                <a:tc>
                  <a:txBody>
                    <a:bodyPr/>
                    <a:lstStyle/>
                    <a:p>
                      <a:r>
                        <a:rPr sz="1600"/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Qué mide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JSON exacto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el texto completo es un JSON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JSON parseable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se puede extraer el JSON del texto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schema_valid_rate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cumple claves, tipos y valores permitidos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Abstención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el modelo considera que la necesidad sí se puede responder con estas fichas, así que genera la consulta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8404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/>
              <a:t>• Interpretación</a:t>
            </a:r>
          </a:p>
          <a:p>
            <a:pPr lvl="1">
              <a:spcAft>
                <a:spcPts val="1000"/>
              </a:spcAft>
            </a:pPr>
            <a:r>
              <a:rPr sz="1900"/>
              <a:t>- El modelo cumple el formato: las 5 salidas son válidas</a:t>
            </a:r>
          </a:p>
          <a:p>
            <a:pPr lvl="1">
              <a:spcAft>
                <a:spcPts val="1000"/>
              </a:spcAft>
            </a:pPr>
            <a:r>
              <a:rPr sz="1900"/>
              <a:t>- El JSON exacto es 0 porque siempre lo envolvió en un bloque de código; al parsear se recupera</a:t>
            </a:r>
          </a:p>
          <a:p>
            <a:pPr lvl="1">
              <a:spcAft>
                <a:spcPts val="1000"/>
              </a:spcAft>
            </a:pPr>
            <a:r>
              <a:rPr sz="1900"/>
              <a:t>- En formato no hay problema, pero el schema solo revisa la forma, no si el contenido es correcto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Resultados: la intención del JSON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5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749039"/>
                <a:gridCol w="3749039"/>
                <a:gridCol w="1920240"/>
              </a:tblGrid>
              <a:tr h="384048">
                <a:tc>
                  <a:txBody>
                    <a:bodyPr/>
                    <a:lstStyle/>
                    <a:p>
                      <a:r>
                        <a:rPr sz="1500"/>
                        <a:t>Necesidad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Intención esperada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Intención del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¿Correcta?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marca_sin_equivalente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marca_sin_equivalente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sí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marca_con_equivalente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marca_con_equivalente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sí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compatibilidad_equipo_existente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competencia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no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competencia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competencia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sí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resultado_adjudicacion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marca_con_equivalente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02336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/>
              <a:t>• Interpretación</a:t>
            </a:r>
          </a:p>
          <a:p>
            <a:pPr lvl="1">
              <a:spcAft>
                <a:spcPts val="1000"/>
              </a:spcAft>
            </a:pPr>
            <a:r>
              <a:rPr sz="1700"/>
              <a:t>- Intención correcta en 3 de 5: formato válido no garantiza contenido correcto</a:t>
            </a:r>
          </a:p>
          <a:p>
            <a:pPr lvl="1">
              <a:spcAft>
                <a:spcPts val="1000"/>
              </a:spcAft>
            </a:pPr>
            <a:r>
              <a:rPr sz="1700"/>
              <a:t>- En N5 (¿quién ganó?) el modelo respondió marca_con_equivalente (posible causa: la palabra Mindray, una marca)</a:t>
            </a:r>
          </a:p>
          <a:p>
            <a:pPr lvl="1">
              <a:spcAft>
                <a:spcPts val="1000"/>
              </a:spcAft>
            </a:pPr>
            <a:r>
              <a:rPr sz="1700"/>
              <a:t>- Un sistema que filtre por intención buscaría en el lugar equivocado en N3 y N5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Resultados: la recuperación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98079" y="1554480"/>
          <a:ext cx="4023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914400"/>
                <a:gridCol w="1005840"/>
              </a:tblGrid>
              <a:tr h="384048">
                <a:tc>
                  <a:txBody>
                    <a:bodyPr/>
                    <a:lstStyle/>
                    <a:p>
                      <a:r>
                        <a:rPr sz="1600"/>
                        <a:t>Consulta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0,53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0,53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320040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Q0 y Q1 dan los mismos valores</a:t>
            </a:r>
          </a:p>
          <a:p>
            <a:pPr>
              <a:spcAft>
                <a:spcPts val="1000"/>
              </a:spcAft>
            </a:pPr>
            <a:r>
              <a:rPr sz="1800"/>
              <a:t>• Jaccard medio del top-3 = 0,90</a:t>
            </a:r>
          </a:p>
          <a:p>
            <a:pPr>
              <a:spcAft>
                <a:spcPts val="1000"/>
              </a:spcAft>
            </a:pPr>
            <a:r>
              <a:rPr sz="1800"/>
              <a:t>• Solo N2 cambia de fragmentos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Interpretación: la recuperación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Q0 y Q1 recuperan lo mismo</a:t>
            </a:r>
          </a:p>
          <a:p>
            <a:pPr lvl="1">
              <a:spcAft>
                <a:spcPts val="1000"/>
              </a:spcAft>
            </a:pPr>
            <a:r>
              <a:rPr sz="1900"/>
              <a:t>- El LLM copió la necesidad en 4 de 5 casos, por eso el Recall no cambia</a:t>
            </a:r>
          </a:p>
          <a:p>
            <a:pPr lvl="1">
              <a:spcAft>
                <a:spcPts val="1000"/>
              </a:spcAft>
            </a:pPr>
            <a:r>
              <a:rPr sz="1900"/>
              <a:t>- Jaccard 0,90: casi todos los top-3 son iguales (en N2 comparten 2 de 4 fragmentos)</a:t>
            </a:r>
          </a:p>
          <a:p>
            <a:pPr>
              <a:spcAft>
                <a:spcPts val="1000"/>
              </a:spcAft>
            </a:pPr>
            <a:r>
              <a:rPr sz="2200"/>
              <a:t>• El Recall es bajo en las dos consultas</a:t>
            </a:r>
          </a:p>
          <a:p>
            <a:pPr lvl="1">
              <a:spcAft>
                <a:spcPts val="1000"/>
              </a:spcAft>
            </a:pPr>
            <a:r>
              <a:rPr sz="1900"/>
              <a:t>- Con 5 resultados queda sin encontrar casi la mitad de la evidencia (R@5 = 0,53)</a:t>
            </a:r>
          </a:p>
          <a:p>
            <a:pPr lvl="1">
              <a:spcAft>
                <a:spcPts val="1000"/>
              </a:spcAft>
            </a:pPr>
            <a:r>
              <a:rPr sz="1900"/>
              <a:t>- El problema está en el recuperador y no en la transformación de la consulta</a:t>
            </a:r>
          </a:p>
          <a:p>
            <a:pPr>
              <a:spcAft>
                <a:spcPts val="1000"/>
              </a:spcAft>
            </a:pPr>
            <a:r>
              <a:rPr sz="2200"/>
              <a:t>• Recall@1 ≤ Recall@3 ≤ Recall@5, como debe ser: más resultados cubren más evidencia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Interpretación: por necesidad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77440"/>
                <a:gridCol w="6949440"/>
              </a:tblGrid>
              <a:tr h="457200">
                <a:tc>
                  <a:txBody>
                    <a:bodyPr/>
                    <a:lstStyle/>
                    <a:p>
                      <a:r>
                        <a:rPr sz="1600"/>
                        <a:t>Necesidad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R@3 (Q0 y Q1)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Por qué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encuentra la ficha Cisco, no la de Agilent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la evidencia es la frase corta "o equivalente", que el modelo no destaca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encuentra la ficha Mindray, no la de Epson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0,33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trae un proceso con un solo postor de los tres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pregunta por un caso concreto con palabras que están en la ficha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Las necesidades con evidencia en varias fichas (N1, N3, N4) quedan a medias</a:t>
            </a:r>
          </a:p>
          <a:p>
            <a:pPr>
              <a:spcAft>
                <a:spcPts val="1000"/>
              </a:spcAft>
            </a:pPr>
            <a:r>
              <a:rPr sz="2000"/>
              <a:t>• Las que dependen de una frase corta (N2) quedan en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Qué pasó con la consulta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En 4 de 5 necesidades el LLM copió la necesidad tal cual como query</a:t>
            </a:r>
          </a:p>
          <a:p>
            <a:pPr>
              <a:spcAft>
                <a:spcPts val="1000"/>
              </a:spcAft>
            </a:pPr>
            <a:r>
              <a:rPr sz="2000"/>
              <a:t>• En N2 la reformuló:</a:t>
            </a:r>
          </a:p>
          <a:p>
            <a:pPr lvl="1">
              <a:spcAft>
                <a:spcPts val="1000"/>
              </a:spcAft>
            </a:pPr>
            <a:r>
              <a:rPr sz="1700"/>
              <a:t>- Original: Quiero encontrar los requerimientos que mencionan una marca pero permiten ofertar un producto equivalente</a:t>
            </a:r>
          </a:p>
          <a:p>
            <a:pPr lvl="1">
              <a:spcAft>
                <a:spcPts val="1000"/>
              </a:spcAft>
            </a:pPr>
            <a:r>
              <a:rPr sz="1700"/>
              <a:t>- Q1: ¿Qué requerimientos mencionan una marca pero permiten ofertar un producto equivalente?</a:t>
            </a:r>
          </a:p>
          <a:p>
            <a:pPr lvl="1">
              <a:spcAft>
                <a:spcPts val="1000"/>
              </a:spcAft>
            </a:pPr>
            <a:r>
              <a:rPr sz="1700"/>
              <a:t>- Cambió uno de los tres fragmentos del top-3 (Jaccard 0,5), pero ninguno era relevante y el R@3 siguió en 0</a:t>
            </a:r>
          </a:p>
          <a:p>
            <a:pPr>
              <a:spcAft>
                <a:spcPts val="1000"/>
              </a:spcAft>
            </a:pPr>
            <a:r>
              <a:rPr sz="2000"/>
              <a:t>• En N5 el JSON fue válido pero la intención salió marca_con_equivalente, siendo una pregunta por el ganador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10881360" cy="914400"/>
          </a:xfrm>
        </p:spPr>
        <p:txBody>
          <a:bodyPr/>
          <a:lstStyle/>
          <a:p>
            <a:pPr algn="l"/>
            <a:r>
              <a:rPr sz="3400"/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La consulta estructurada conserva la necesidad, pero no la mejora</a:t>
            </a:r>
          </a:p>
          <a:p>
            <a:pPr lvl="1">
              <a:spcAft>
                <a:spcPts val="1000"/>
              </a:spcAft>
            </a:pPr>
            <a:r>
              <a:rPr sz="1900"/>
              <a:t>- El modelo pequeño no la reescribe con el vocabulario de las fichas ("buena pro", "número de postores", "o equivalente")</a:t>
            </a:r>
          </a:p>
          <a:p>
            <a:pPr>
              <a:spcAft>
                <a:spcPts val="1000"/>
              </a:spcAft>
            </a:pPr>
            <a:r>
              <a:rPr sz="2200"/>
              <a:t>• Un JSON válido no garantiza una intención correcta</a:t>
            </a:r>
          </a:p>
          <a:p>
            <a:pPr lvl="1">
              <a:spcAft>
                <a:spcPts val="1000"/>
              </a:spcAft>
            </a:pPr>
            <a:r>
              <a:rPr sz="1900"/>
              <a:t>- schema_valid_rate = 1 mide el formato; la intención fue correcta en 3 de 5</a:t>
            </a:r>
          </a:p>
          <a:p>
            <a:pPr>
              <a:spcAft>
                <a:spcPts val="1000"/>
              </a:spcAft>
            </a:pPr>
            <a:r>
              <a:rPr sz="2200"/>
              <a:t>• El Recall bajo viene del recuperador, no de la transformación</a:t>
            </a:r>
          </a:p>
          <a:p>
            <a:pPr lvl="1">
              <a:spcAft>
                <a:spcPts val="1000"/>
              </a:spcAft>
            </a:pPr>
            <a:r>
              <a:rPr sz="1900"/>
              <a:t>- N2 queda en 0 con Q0 y con Q1</a:t>
            </a:r>
          </a:p>
          <a:p>
            <a:pPr>
              <a:spcAft>
                <a:spcPts val="1000"/>
              </a:spcAft>
            </a:pPr>
            <a:r>
              <a:rPr sz="2200"/>
              <a:t>• Con 5 necesidades solo se pueden sacar conclusiones sobre estos casos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