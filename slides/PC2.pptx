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small · 100</c:v>
                </c:pt>
              </c:strCache>
            </c:strRef>
          </c:tx>
          <c:spPr>
            <a:solidFill>
              <a:srgbClr val="86B6EF"/>
            </a:solidFill>
          </c:spPr>
          <c:dLbls>
            <c:dLbl>
              <c:idx val="0"/>
              <c:tx>
                <c:rich>
                  <a:bodyPr/>
                  <a:lstStyle/>
                  <a:p>
                    <a:r>
                      <a:rPr sz="1100">
                        <a:solidFill>
                          <a:srgbClr val="52514E"/>
                        </a:solidFill>
                      </a:rPr>
                      <a:t>0</a:t>
                    </a:r>
                  </a:p>
                </c:rich>
              </c:tx>
              <c:dLblPos val="outEnd"/>
              <c:showLegendKey val="0"/>
              <c:showVal val="1"/>
              <c:showCatName val="0"/>
              <c:showSerName val="0"/>
              <c:showPercent val="0"/>
              <c:showBubbleSize val="0"/>
            </c:dLbl>
            <c:dLbl>
              <c:idx val="1"/>
              <c:tx>
                <c:rich>
                  <a:bodyPr/>
                  <a:lstStyle/>
                  <a:p>
                    <a:r>
                      <a:rPr sz="1100">
                        <a:solidFill>
                          <a:srgbClr val="52514E"/>
                        </a:solidFill>
                      </a:rPr>
                      <a:t>0,2</a:t>
                    </a:r>
                  </a:p>
                </c:rich>
              </c:tx>
              <c:dLblPos val="outEnd"/>
              <c:showLegendKey val="0"/>
              <c:showVal val="1"/>
              <c:showCatName val="0"/>
              <c:showSerName val="0"/>
              <c:showPercent val="0"/>
              <c:showBubbleSize val="0"/>
            </c:dLbl>
            <c:dLbl>
              <c:idx val="2"/>
              <c:tx>
                <c:rich>
                  <a:bodyPr/>
                  <a:lstStyle/>
                  <a:p>
                    <a:r>
                      <a:rPr sz="1100">
                        <a:solidFill>
                          <a:srgbClr val="52514E"/>
                        </a:solidFill>
                      </a:rPr>
                      <a:t>0,3</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Recall@1</c:v>
                </c:pt>
                <c:pt idx="1">
                  <c:v>Recall@3</c:v>
                </c:pt>
                <c:pt idx="2">
                  <c:v>Recall@5</c:v>
                </c:pt>
              </c:strCache>
            </c:strRef>
          </c:cat>
          <c:val>
            <c:numRef>
              <c:f>Sheet1!$B$2:$B$4</c:f>
              <c:numCache>
                <c:formatCode>General</c:formatCode>
                <c:ptCount val="3"/>
                <c:pt idx="0">
                  <c:v>0.0</c:v>
                </c:pt>
                <c:pt idx="1">
                  <c:v>0.2</c:v>
                </c:pt>
                <c:pt idx="2">
                  <c:v>0.3</c:v>
                </c:pt>
              </c:numCache>
            </c:numRef>
          </c:val>
        </c:ser>
        <c:ser>
          <c:idx val="1"/>
          <c:order val="1"/>
          <c:tx>
            <c:strRef>
              <c:f>Sheet1!$C$1</c:f>
              <c:strCache>
                <c:ptCount val="1"/>
                <c:pt idx="0">
                  <c:v>baseline · 180</c:v>
                </c:pt>
              </c:strCache>
            </c:strRef>
          </c:tx>
          <c:spPr>
            <a:solidFill>
              <a:srgbClr val="2A78D6"/>
            </a:solidFill>
          </c:spPr>
          <c:dLbls>
            <c:dLbl>
              <c:idx val="0"/>
              <c:tx>
                <c:rich>
                  <a:bodyPr/>
                  <a:lstStyle/>
                  <a:p>
                    <a:r>
                      <a:rPr sz="1100">
                        <a:solidFill>
                          <a:srgbClr val="52514E"/>
                        </a:solidFill>
                      </a:rPr>
                      <a:t>0,3</a:t>
                    </a:r>
                  </a:p>
                </c:rich>
              </c:tx>
              <c:dLblPos val="outEnd"/>
              <c:showLegendKey val="0"/>
              <c:showVal val="1"/>
              <c:showCatName val="0"/>
              <c:showSerName val="0"/>
              <c:showPercent val="0"/>
              <c:showBubbleSize val="0"/>
            </c:dLbl>
            <c:dLbl>
              <c:idx val="1"/>
              <c:tx>
                <c:rich>
                  <a:bodyPr/>
                  <a:lstStyle/>
                  <a:p>
                    <a:r>
                      <a:rPr sz="1100">
                        <a:solidFill>
                          <a:srgbClr val="52514E"/>
                        </a:solidFill>
                      </a:rPr>
                      <a:t>0,47</a:t>
                    </a:r>
                  </a:p>
                </c:rich>
              </c:tx>
              <c:dLblPos val="outEnd"/>
              <c:showLegendKey val="0"/>
              <c:showVal val="1"/>
              <c:showCatName val="0"/>
              <c:showSerName val="0"/>
              <c:showPercent val="0"/>
              <c:showBubbleSize val="0"/>
            </c:dLbl>
            <c:dLbl>
              <c:idx val="2"/>
              <c:tx>
                <c:rich>
                  <a:bodyPr/>
                  <a:lstStyle/>
                  <a:p>
                    <a:r>
                      <a:rPr sz="1100">
                        <a:solidFill>
                          <a:srgbClr val="52514E"/>
                        </a:solidFill>
                      </a:rPr>
                      <a:t>0,53</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Recall@1</c:v>
                </c:pt>
                <c:pt idx="1">
                  <c:v>Recall@3</c:v>
                </c:pt>
                <c:pt idx="2">
                  <c:v>Recall@5</c:v>
                </c:pt>
              </c:strCache>
            </c:strRef>
          </c:cat>
          <c:val>
            <c:numRef>
              <c:f>Sheet1!$C$2:$C$4</c:f>
              <c:numCache>
                <c:formatCode>General</c:formatCode>
                <c:ptCount val="3"/>
                <c:pt idx="0">
                  <c:v>0.3</c:v>
                </c:pt>
                <c:pt idx="1">
                  <c:v>0.467</c:v>
                </c:pt>
                <c:pt idx="2">
                  <c:v>0.533</c:v>
                </c:pt>
              </c:numCache>
            </c:numRef>
          </c:val>
        </c:ser>
        <c:ser>
          <c:idx val="2"/>
          <c:order val="2"/>
          <c:tx>
            <c:strRef>
              <c:f>Sheet1!$D$1</c:f>
              <c:strCache>
                <c:ptCount val="1"/>
                <c:pt idx="0">
                  <c:v>large · 320</c:v>
                </c:pt>
              </c:strCache>
            </c:strRef>
          </c:tx>
          <c:spPr>
            <a:solidFill>
              <a:srgbClr val="104281"/>
            </a:solidFill>
          </c:spPr>
          <c:dLbls>
            <c:dLbl>
              <c:idx val="0"/>
              <c:tx>
                <c:rich>
                  <a:bodyPr/>
                  <a:lstStyle/>
                  <a:p>
                    <a:r>
                      <a:rPr sz="1100">
                        <a:solidFill>
                          <a:srgbClr val="52514E"/>
                        </a:solidFill>
                      </a:rPr>
                      <a:t>0,3</a:t>
                    </a:r>
                  </a:p>
                </c:rich>
              </c:tx>
              <c:dLblPos val="outEnd"/>
              <c:showLegendKey val="0"/>
              <c:showVal val="1"/>
              <c:showCatName val="0"/>
              <c:showSerName val="0"/>
              <c:showPercent val="0"/>
              <c:showBubbleSize val="0"/>
            </c:dLbl>
            <c:dLbl>
              <c:idx val="1"/>
              <c:tx>
                <c:rich>
                  <a:bodyPr/>
                  <a:lstStyle/>
                  <a:p>
                    <a:r>
                      <a:rPr sz="1100">
                        <a:solidFill>
                          <a:srgbClr val="52514E"/>
                        </a:solidFill>
                      </a:rPr>
                      <a:t>0,4</a:t>
                    </a:r>
                  </a:p>
                </c:rich>
              </c:tx>
              <c:dLblPos val="outEnd"/>
              <c:showLegendKey val="0"/>
              <c:showVal val="1"/>
              <c:showCatName val="0"/>
              <c:showSerName val="0"/>
              <c:showPercent val="0"/>
              <c:showBubbleSize val="0"/>
            </c:dLbl>
            <c:dLbl>
              <c:idx val="2"/>
              <c:tx>
                <c:rich>
                  <a:bodyPr/>
                  <a:lstStyle/>
                  <a:p>
                    <a:r>
                      <a:rPr sz="1100">
                        <a:solidFill>
                          <a:srgbClr val="52514E"/>
                        </a:solidFill>
                      </a:rPr>
                      <a:t>0,47</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Recall@1</c:v>
                </c:pt>
                <c:pt idx="1">
                  <c:v>Recall@3</c:v>
                </c:pt>
                <c:pt idx="2">
                  <c:v>Recall@5</c:v>
                </c:pt>
              </c:strCache>
            </c:strRef>
          </c:cat>
          <c:val>
            <c:numRef>
              <c:f>Sheet1!$D$2:$D$4</c:f>
              <c:numCache>
                <c:formatCode>General</c:formatCode>
                <c:ptCount val="3"/>
                <c:pt idx="0">
                  <c:v>0.3</c:v>
                </c:pt>
                <c:pt idx="1">
                  <c:v>0.4</c:v>
                </c:pt>
                <c:pt idx="2">
                  <c:v>0.467</c:v>
                </c:pt>
              </c:numCache>
            </c:numRef>
          </c:val>
        </c:ser>
        <c:gapWidth val="70"/>
        <c:axId val="-2068027336"/>
        <c:axId val="-2113994440"/>
      </c:barChart>
      <c:catAx>
        <c:axId val="-2068027336"/>
        <c:scaling>
          <c:orientation val="minMax"/>
        </c:scaling>
        <c:delete val="0"/>
        <c:axPos val="b"/>
        <c:majorTickMark val="out"/>
        <c:minorTickMark val="none"/>
        <c:tickLblPos val="nextTo"/>
        <c:spPr>
          <a:ln>
            <a:solidFill>
              <a:srgbClr val="C3C2B7"/>
            </a:solidFill>
          </a:ln>
        </c:spPr>
        <c:txPr>
          <a:bodyPr/>
          <a:lstStyle/>
          <a:p>
            <a:pPr>
              <a:defRPr sz="1200">
                <a:solidFill>
                  <a:srgbClr val="52514E"/>
                </a:solidFill>
                <a:latin typeface="Calibri"/>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E1E0D9"/>
              </a:solidFill>
            </a:ln>
          </c:spPr>
        </c:majorGridlines>
        <c:majorTickMark val="out"/>
        <c:minorTickMark val="none"/>
        <c:tickLblPos val="none"/>
        <c:spPr>
          <a:ln>
            <a:noFill/>
          </a:ln>
        </c:spPr>
        <c:crossAx val="-2068027336"/>
        <c:crosses val="autoZero"/>
      </c:valAx>
    </c:plotArea>
    <c:legend>
      <c:legendPos val="t"/>
      <c:overlay val="0"/>
      <c:txPr>
        <a:bodyPr/>
        <a:lstStyle/>
        <a:p>
          <a:pPr>
            <a:defRPr sz="1200">
              <a:solidFill>
                <a:srgbClr val="52514E"/>
              </a:solidFill>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Continúo el tema de la PC1. En la PC1 el contexto se le daba al modelo a mano; aquí pregunto cómo recuperarlo automáticamente: necesidad, consulta estructurada, embeddings, FAISS y Recall@k.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corpus son fichas reales armadas desde las tablas OCDS: no hay texto inventado. Las cinco necesidades son la evidencia que el detector necesitaría. La relevancia se define sobre passages, por eso los qrels no cambian al cambiar el tamaño del chunk. |G| es el número de passages relevantes de cada necesidad.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vectores normalizados, el producto interno es el coseno, así que IndexFlatIP ordena por coseno y es búsqueda exacta. Verifiqué que FAISS y la multiplicación Q por E transpuesta en NumPy dan el mismo orden. Paso el texto a minúsculas porque el SEACE escribe en mayúsculas y eso multiplica los tokens. Con 320 palabras se superaba la ventana de 512 tokens, así que el chunker se detiene antes: así no mezclo tamaño con truncación.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el experimento 1 solo cambia la consulta; en el 2 solo cambia el tamaño del chunk. Todo lo demás queda fijo, incluido el chunker con un passage de solapamiento y el tope de 512 tokens.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Recall@3 medio: small 0,20, baseline 0,47, large 0,40. El caso N5 explica casi toda la diferencia de small: encuentra el documento pero no el fragmento de la buena pro. N2 es el error que no depende del tamaño: la evidencia es léxica y el modelo denso pone a todos los chunks del dominio en el mismo rango de score. En el experimento 1 el LLM copió la necesidad en 4 de 5 casos y eligió mal la intención en 2: el JSON fue schema-valid en 5 de 5, pero no siempre adecuado.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afirmo que 180 palabras sea el mejor tamaño en general ni que el LLM nunca mejore la consulta: con estos datos, la recuperación densa sola encuentra el documento correcto más a menudo que la evidencia exacta. El paso natural es la Semana 5: BM25 y fusión para las señales léxicas como 'o equivalente'.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A4A"/>
        </a:solidFill>
        <a:effectLst/>
      </p:bgPr>
    </p:bg>
    <p:spTree>
      <p:nvGrpSpPr>
        <p:cNvPr id="1" name=""/>
        <p:cNvGrpSpPr/>
        <p:nvPr/>
      </p:nvGrpSpPr>
      <p:grpSpPr/>
      <p:sp>
        <p:nvSpPr>
          <p:cNvPr id="2" name="TextBox 1"/>
          <p:cNvSpPr txBox="1"/>
          <p:nvPr/>
        </p:nvSpPr>
        <p:spPr>
          <a:xfrm>
            <a:off x="731520" y="1417320"/>
            <a:ext cx="10698480" cy="822960"/>
          </a:xfrm>
          <a:prstGeom prst="rect">
            <a:avLst/>
          </a:prstGeom>
          <a:noFill/>
        </p:spPr>
        <p:txBody>
          <a:bodyPr wrap="square" anchor="t" lIns="0" rIns="0" tIns="0" bIns="0">
            <a:spAutoFit/>
          </a:bodyPr>
          <a:lstStyle/>
          <a:p>
            <a:pPr algn="l">
              <a:spcAft>
                <a:spcPts val="600"/>
              </a:spcAft>
            </a:pPr>
            <a:r>
              <a:rPr sz="4000" b="1" i="0">
                <a:solidFill>
                  <a:srgbClr val="FFFFFF"/>
                </a:solidFill>
                <a:latin typeface="Calibri"/>
              </a:rPr>
              <a:t>PC2 - Tópicos de Ciencia de la Computación 1</a:t>
            </a:r>
          </a:p>
        </p:txBody>
      </p:sp>
      <p:sp>
        <p:nvSpPr>
          <p:cNvPr id="3" name="TextBox 2"/>
          <p:cNvSpPr txBox="1"/>
          <p:nvPr/>
        </p:nvSpPr>
        <p:spPr>
          <a:xfrm>
            <a:off x="731520" y="2331720"/>
            <a:ext cx="10698480" cy="914400"/>
          </a:xfrm>
          <a:prstGeom prst="rect">
            <a:avLst/>
          </a:prstGeom>
          <a:noFill/>
        </p:spPr>
        <p:txBody>
          <a:bodyPr wrap="square" anchor="t" lIns="0" rIns="0" tIns="0" bIns="0">
            <a:spAutoFit/>
          </a:bodyPr>
          <a:lstStyle/>
          <a:p>
            <a:pPr algn="l">
              <a:spcAft>
                <a:spcPts val="600"/>
              </a:spcAft>
            </a:pPr>
            <a:r>
              <a:rPr sz="2200" b="0" i="0">
                <a:solidFill>
                  <a:srgbClr val="CADCFC"/>
                </a:solidFill>
                <a:latin typeface="Calibri"/>
              </a:rPr>
              <a:t>De una consulta estructurada a recuperación densa verificable sobre fichas OCDS de contrataciones públicas</a:t>
            </a:r>
          </a:p>
        </p:txBody>
      </p:sp>
      <p:sp>
        <p:nvSpPr>
          <p:cNvPr id="4" name="Rounded Rectangle 3"/>
          <p:cNvSpPr/>
          <p:nvPr/>
        </p:nvSpPr>
        <p:spPr>
          <a:xfrm>
            <a:off x="731520" y="3977639"/>
            <a:ext cx="2377440" cy="685800"/>
          </a:xfrm>
          <a:prstGeom prst="roundRect">
            <a:avLst>
              <a:gd name="adj" fmla="val 50000"/>
            </a:avLst>
          </a:prstGeom>
          <a:solidFill>
            <a:srgbClr val="1C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9536" y="4096512"/>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6" name="TextBox 5"/>
          <p:cNvSpPr txBox="1"/>
          <p:nvPr/>
        </p:nvSpPr>
        <p:spPr>
          <a:xfrm>
            <a:off x="1444752" y="3977639"/>
            <a:ext cx="1600200" cy="685800"/>
          </a:xfrm>
          <a:prstGeom prst="rect">
            <a:avLst/>
          </a:prstGeom>
          <a:noFill/>
        </p:spPr>
        <p:txBody>
          <a:bodyPr wrap="square" anchor="ctr" lIns="0" rIns="0" tIns="0" bIns="0">
            <a:spAutoFit/>
          </a:bodyPr>
          <a:lstStyle/>
          <a:p>
            <a:pPr algn="l">
              <a:spcAft>
                <a:spcPts val="600"/>
              </a:spcAft>
            </a:pPr>
            <a:r>
              <a:rPr sz="1600" b="0" i="0">
                <a:solidFill>
                  <a:srgbClr val="FFFFFF"/>
                </a:solidFill>
                <a:latin typeface="Calibri"/>
              </a:rPr>
              <a:t>Necesidad</a:t>
            </a:r>
          </a:p>
        </p:txBody>
      </p:sp>
      <p:sp>
        <p:nvSpPr>
          <p:cNvPr id="7" name="Rounded Rectangle 6"/>
          <p:cNvSpPr/>
          <p:nvPr/>
        </p:nvSpPr>
        <p:spPr>
          <a:xfrm>
            <a:off x="3429000" y="3977639"/>
            <a:ext cx="2377440" cy="685800"/>
          </a:xfrm>
          <a:prstGeom prst="roundRect">
            <a:avLst>
              <a:gd name="adj" fmla="val 50000"/>
            </a:avLst>
          </a:prstGeom>
          <a:solidFill>
            <a:srgbClr val="1C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557016" y="4096512"/>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TextBox 8"/>
          <p:cNvSpPr txBox="1"/>
          <p:nvPr/>
        </p:nvSpPr>
        <p:spPr>
          <a:xfrm>
            <a:off x="4142232" y="3977639"/>
            <a:ext cx="1600200" cy="685800"/>
          </a:xfrm>
          <a:prstGeom prst="rect">
            <a:avLst/>
          </a:prstGeom>
          <a:noFill/>
        </p:spPr>
        <p:txBody>
          <a:bodyPr wrap="square" anchor="ctr" lIns="0" rIns="0" tIns="0" bIns="0">
            <a:spAutoFit/>
          </a:bodyPr>
          <a:lstStyle/>
          <a:p>
            <a:pPr algn="l">
              <a:spcAft>
                <a:spcPts val="600"/>
              </a:spcAft>
            </a:pPr>
            <a:r>
              <a:rPr sz="1600" b="0" i="0">
                <a:solidFill>
                  <a:srgbClr val="FFFFFF"/>
                </a:solidFill>
                <a:latin typeface="Calibri"/>
              </a:rPr>
              <a:t>JSON validado</a:t>
            </a:r>
          </a:p>
        </p:txBody>
      </p:sp>
      <p:sp>
        <p:nvSpPr>
          <p:cNvPr id="10" name="Rounded Rectangle 9"/>
          <p:cNvSpPr/>
          <p:nvPr/>
        </p:nvSpPr>
        <p:spPr>
          <a:xfrm>
            <a:off x="6126480" y="3977639"/>
            <a:ext cx="2377440" cy="685800"/>
          </a:xfrm>
          <a:prstGeom prst="roundRect">
            <a:avLst>
              <a:gd name="adj" fmla="val 50000"/>
            </a:avLst>
          </a:prstGeom>
          <a:solidFill>
            <a:srgbClr val="1C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54496" y="4096512"/>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2" name="TextBox 11"/>
          <p:cNvSpPr txBox="1"/>
          <p:nvPr/>
        </p:nvSpPr>
        <p:spPr>
          <a:xfrm>
            <a:off x="6839712" y="3977639"/>
            <a:ext cx="1600200" cy="685800"/>
          </a:xfrm>
          <a:prstGeom prst="rect">
            <a:avLst/>
          </a:prstGeom>
          <a:noFill/>
        </p:spPr>
        <p:txBody>
          <a:bodyPr wrap="square" anchor="ctr" lIns="0" rIns="0" tIns="0" bIns="0">
            <a:spAutoFit/>
          </a:bodyPr>
          <a:lstStyle/>
          <a:p>
            <a:pPr algn="l">
              <a:spcAft>
                <a:spcPts val="600"/>
              </a:spcAft>
            </a:pPr>
            <a:r>
              <a:rPr sz="1600" b="0" i="0">
                <a:solidFill>
                  <a:srgbClr val="FFFFFF"/>
                </a:solidFill>
                <a:latin typeface="Calibri"/>
              </a:rPr>
              <a:t>e5 + FAISS</a:t>
            </a:r>
          </a:p>
        </p:txBody>
      </p:sp>
      <p:sp>
        <p:nvSpPr>
          <p:cNvPr id="13" name="Rounded Rectangle 12"/>
          <p:cNvSpPr/>
          <p:nvPr/>
        </p:nvSpPr>
        <p:spPr>
          <a:xfrm>
            <a:off x="8823960" y="3977639"/>
            <a:ext cx="2377440" cy="685800"/>
          </a:xfrm>
          <a:prstGeom prst="roundRect">
            <a:avLst>
              <a:gd name="adj" fmla="val 50000"/>
            </a:avLst>
          </a:prstGeom>
          <a:solidFill>
            <a:srgbClr val="1C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51976" y="4096512"/>
            <a:ext cx="457200" cy="4572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5" name="TextBox 14"/>
          <p:cNvSpPr txBox="1"/>
          <p:nvPr/>
        </p:nvSpPr>
        <p:spPr>
          <a:xfrm>
            <a:off x="9537192" y="3977639"/>
            <a:ext cx="1600200" cy="685800"/>
          </a:xfrm>
          <a:prstGeom prst="rect">
            <a:avLst/>
          </a:prstGeom>
          <a:noFill/>
        </p:spPr>
        <p:txBody>
          <a:bodyPr wrap="square" anchor="ctr" lIns="0" rIns="0" tIns="0" bIns="0">
            <a:spAutoFit/>
          </a:bodyPr>
          <a:lstStyle/>
          <a:p>
            <a:pPr algn="l">
              <a:spcAft>
                <a:spcPts val="600"/>
              </a:spcAft>
            </a:pPr>
            <a:r>
              <a:rPr sz="1600" b="0" i="0">
                <a:solidFill>
                  <a:srgbClr val="FFFFFF"/>
                </a:solidFill>
                <a:latin typeface="Calibri"/>
              </a:rPr>
              <a:t>Recall@k</a:t>
            </a:r>
          </a:p>
        </p:txBody>
      </p:sp>
      <p:sp>
        <p:nvSpPr>
          <p:cNvPr id="16" name="TextBox 15"/>
          <p:cNvSpPr txBox="1"/>
          <p:nvPr/>
        </p:nvSpPr>
        <p:spPr>
          <a:xfrm>
            <a:off x="731520" y="5257800"/>
            <a:ext cx="10698480" cy="457200"/>
          </a:xfrm>
          <a:prstGeom prst="rect">
            <a:avLst/>
          </a:prstGeom>
          <a:noFill/>
        </p:spPr>
        <p:txBody>
          <a:bodyPr wrap="square" anchor="t" lIns="0" rIns="0" tIns="0" bIns="0">
            <a:spAutoFit/>
          </a:bodyPr>
          <a:lstStyle/>
          <a:p>
            <a:pPr algn="l">
              <a:spcAft>
                <a:spcPts val="600"/>
              </a:spcAft>
            </a:pPr>
            <a:r>
              <a:rPr sz="1400" b="0" i="0">
                <a:solidFill>
                  <a:srgbClr val="CADCFC"/>
                </a:solidFill>
                <a:latin typeface="Calibri"/>
              </a:rPr>
              <a:t>Tema: sistema multi-agente LLM para detectar requisitos direccionados en bases de contrataciones del Estado (continuación de la PC1)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ítulo"/>
          <p:cNvSpPr txBox="1"/>
          <p:nvPr/>
        </p:nvSpPr>
        <p:spPr>
          <a:xfrm>
            <a:off x="548640" y="411480"/>
            <a:ext cx="11064240" cy="685800"/>
          </a:xfrm>
          <a:prstGeom prst="rect">
            <a:avLst/>
          </a:prstGeom>
          <a:noFill/>
        </p:spPr>
        <p:txBody>
          <a:bodyPr wrap="square" anchor="t" lIns="0" rIns="0" tIns="0" bIns="0">
            <a:spAutoFit/>
          </a:bodyPr>
          <a:lstStyle/>
          <a:p>
            <a:pPr algn="l">
              <a:spcAft>
                <a:spcPts val="600"/>
              </a:spcAft>
            </a:pPr>
            <a:r>
              <a:rPr sz="3200" b="1" i="0">
                <a:solidFill>
                  <a:srgbClr val="0F2A4A"/>
                </a:solidFill>
                <a:latin typeface="Calibri"/>
              </a:rPr>
              <a:t>Problema y necesidad de recuperación</a:t>
            </a:r>
          </a:p>
        </p:txBody>
      </p:sp>
      <p:sp>
        <p:nvSpPr>
          <p:cNvPr id="3" name="Subtítulo"/>
          <p:cNvSpPr txBox="1"/>
          <p:nvPr/>
        </p:nvSpPr>
        <p:spPr>
          <a:xfrm>
            <a:off x="548640" y="1078992"/>
            <a:ext cx="11064240" cy="411480"/>
          </a:xfrm>
          <a:prstGeom prst="rect">
            <a:avLst/>
          </a:prstGeom>
          <a:noFill/>
        </p:spPr>
        <p:txBody>
          <a:bodyPr wrap="square" anchor="t" lIns="0" rIns="0" tIns="0" bIns="0">
            <a:spAutoFit/>
          </a:bodyPr>
          <a:lstStyle/>
          <a:p>
            <a:pPr algn="l">
              <a:spcAft>
                <a:spcPts val="600"/>
              </a:spcAft>
            </a:pPr>
            <a:r>
              <a:rPr sz="1600" b="0" i="0">
                <a:solidFill>
                  <a:srgbClr val="52514E"/>
                </a:solidFill>
                <a:latin typeface="Calibri"/>
              </a:rPr>
              <a:t>Antes de decidir si un requisito está direccionado, el sistema necesita encontrar la evidencia en la ficha</a:t>
            </a:r>
          </a:p>
        </p:txBody>
      </p:sp>
      <p:sp>
        <p:nvSpPr>
          <p:cNvPr id="4" name="Rounded Rectangle 3"/>
          <p:cNvSpPr/>
          <p:nvPr/>
        </p:nvSpPr>
        <p:spPr>
          <a:xfrm>
            <a:off x="548640" y="1783080"/>
            <a:ext cx="3931920" cy="452628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65960"/>
            <a:ext cx="3474720" cy="365760"/>
          </a:xfrm>
          <a:prstGeom prst="rect">
            <a:avLst/>
          </a:prstGeom>
          <a:noFill/>
        </p:spPr>
        <p:txBody>
          <a:bodyPr wrap="square" anchor="t" lIns="0" rIns="0" tIns="0" bIns="0">
            <a:spAutoFit/>
          </a:bodyPr>
          <a:lstStyle/>
          <a:p>
            <a:pPr algn="l">
              <a:spcAft>
                <a:spcPts val="600"/>
              </a:spcAft>
            </a:pPr>
            <a:r>
              <a:rPr sz="2000" b="1" i="0">
                <a:solidFill>
                  <a:srgbClr val="0F2A4A"/>
                </a:solidFill>
                <a:latin typeface="Calibri"/>
              </a:rPr>
              <a:t>Corpus</a:t>
            </a:r>
          </a:p>
        </p:txBody>
      </p:sp>
      <p:sp>
        <p:nvSpPr>
          <p:cNvPr id="6" name="TextBox 5"/>
          <p:cNvSpPr txBox="1"/>
          <p:nvPr/>
        </p:nvSpPr>
        <p:spPr>
          <a:xfrm>
            <a:off x="822960" y="2423160"/>
            <a:ext cx="3474720" cy="2834640"/>
          </a:xfrm>
          <a:prstGeom prst="rect">
            <a:avLst/>
          </a:prstGeom>
          <a:noFill/>
        </p:spPr>
        <p:txBody>
          <a:bodyPr wrap="square" anchor="t" lIns="0" rIns="0" tIns="0" bIns="0">
            <a:spAutoFit/>
          </a:bodyPr>
          <a:lstStyle/>
          <a:p>
            <a:pPr algn="l">
              <a:spcAft>
                <a:spcPts val="600"/>
              </a:spcAft>
            </a:pPr>
            <a:r>
              <a:rPr sz="1500" b="1" i="0">
                <a:solidFill>
                  <a:srgbClr val="1B1B1B"/>
                </a:solidFill>
                <a:latin typeface="Calibri"/>
              </a:rPr>
              <a:t>10 fichas reales </a:t>
            </a:r>
            <a:r>
              <a:rPr sz="1500" b="0" i="0">
                <a:solidFill>
                  <a:srgbClr val="1B1B1B"/>
                </a:solidFill>
                <a:latin typeface="Calibri"/>
              </a:rPr>
              <a:t>del SEACE (OCDS 2026, convocatorias 2024-2026)</a:t>
            </a:r>
          </a:p>
          <a:p>
            <a:pPr algn="l">
              <a:spcAft>
                <a:spcPts val="600"/>
              </a:spcAft>
            </a:pPr>
            <a:r>
              <a:rPr sz="1500" b="1" i="0">
                <a:solidFill>
                  <a:srgbClr val="1B1B1B"/>
                </a:solidFill>
                <a:latin typeface="Calibri"/>
              </a:rPr>
              <a:t>92 passages: </a:t>
            </a:r>
            <a:r>
              <a:rPr sz="1500" b="0" i="0">
                <a:solidFill>
                  <a:srgbClr val="1B1B1B"/>
                </a:solidFill>
                <a:latin typeface="Calibri"/>
              </a:rPr>
              <a:t>convocatoria, ítems, cronograma, documentos, postores, buena pro y contrato</a:t>
            </a:r>
          </a:p>
          <a:p>
            <a:pPr algn="l">
              <a:spcAft>
                <a:spcPts val="600"/>
              </a:spcAft>
            </a:pPr>
            <a:r>
              <a:rPr sz="1500" b="1" i="0">
                <a:solidFill>
                  <a:srgbClr val="1B1B1B"/>
                </a:solidFill>
                <a:latin typeface="Calibri"/>
              </a:rPr>
              <a:t>Cubre las 4 señales </a:t>
            </a:r>
            <a:r>
              <a:rPr sz="1500" b="0" i="0">
                <a:solidFill>
                  <a:srgbClr val="1B1B1B"/>
                </a:solidFill>
                <a:latin typeface="Calibri"/>
              </a:rPr>
              <a:t>de la rúbrica de la PC1, 3 procesos con un solo postor y una trampa léxica (ladrillo ADOBE)</a:t>
            </a:r>
          </a:p>
        </p:txBody>
      </p:sp>
      <p:sp>
        <p:nvSpPr>
          <p:cNvPr id="7" name="TextBox 6"/>
          <p:cNvSpPr txBox="1"/>
          <p:nvPr/>
        </p:nvSpPr>
        <p:spPr>
          <a:xfrm>
            <a:off x="822960" y="5440680"/>
            <a:ext cx="3474720" cy="731520"/>
          </a:xfrm>
          <a:prstGeom prst="rect">
            <a:avLst/>
          </a:prstGeom>
          <a:noFill/>
        </p:spPr>
        <p:txBody>
          <a:bodyPr wrap="square" anchor="t" lIns="0" rIns="0" tIns="0" bIns="0">
            <a:spAutoFit/>
          </a:bodyPr>
          <a:lstStyle/>
          <a:p>
            <a:pPr algn="l">
              <a:spcAft>
                <a:spcPts val="600"/>
              </a:spcAft>
            </a:pPr>
            <a:r>
              <a:rPr sz="1300" b="0" i="1">
                <a:solidFill>
                  <a:srgbClr val="52514E"/>
                </a:solidFill>
                <a:latin typeface="Calibri"/>
              </a:rPr>
              <a:t>Qrels sobre passage_id: no cambian cuando cambia el tamaño del chunk</a:t>
            </a:r>
          </a:p>
        </p:txBody>
      </p:sp>
      <p:sp>
        <p:nvSpPr>
          <p:cNvPr id="8" name="TextBox 7"/>
          <p:cNvSpPr txBox="1"/>
          <p:nvPr/>
        </p:nvSpPr>
        <p:spPr>
          <a:xfrm>
            <a:off x="4846320" y="1783080"/>
            <a:ext cx="6766560" cy="365760"/>
          </a:xfrm>
          <a:prstGeom prst="rect">
            <a:avLst/>
          </a:prstGeom>
          <a:noFill/>
        </p:spPr>
        <p:txBody>
          <a:bodyPr wrap="square" anchor="t" lIns="0" rIns="0" tIns="0" bIns="0">
            <a:spAutoFit/>
          </a:bodyPr>
          <a:lstStyle/>
          <a:p>
            <a:pPr algn="l">
              <a:spcAft>
                <a:spcPts val="600"/>
              </a:spcAft>
            </a:pPr>
            <a:r>
              <a:rPr sz="2000" b="1" i="0">
                <a:solidFill>
                  <a:srgbClr val="0F2A4A"/>
                </a:solidFill>
                <a:latin typeface="Calibri"/>
              </a:rPr>
              <a:t>5 necesidades de información (Q0) y su evidencia</a:t>
            </a:r>
          </a:p>
        </p:txBody>
      </p:sp>
      <p:sp>
        <p:nvSpPr>
          <p:cNvPr id="9" name="Rounded Rectangle 8"/>
          <p:cNvSpPr/>
          <p:nvPr/>
        </p:nvSpPr>
        <p:spPr>
          <a:xfrm>
            <a:off x="4846320" y="2286000"/>
            <a:ext cx="6766560" cy="676656"/>
          </a:xfrm>
          <a:prstGeom prst="roundRect">
            <a:avLst>
              <a:gd name="adj" fmla="val 6000"/>
            </a:avLst>
          </a:prstGeom>
          <a:solidFill>
            <a:srgbClr val="FFFFFF"/>
          </a:solidFill>
          <a:ln w="12700">
            <a:solidFill>
              <a:srgbClr val="D5E3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983480" y="2395728"/>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N1</a:t>
            </a:r>
          </a:p>
        </p:txBody>
      </p:sp>
      <p:sp>
        <p:nvSpPr>
          <p:cNvPr id="11" name="TextBox 10"/>
          <p:cNvSpPr txBox="1"/>
          <p:nvPr/>
        </p:nvSpPr>
        <p:spPr>
          <a:xfrm>
            <a:off x="5623560" y="2359152"/>
            <a:ext cx="4023360" cy="548640"/>
          </a:xfrm>
          <a:prstGeom prst="rect">
            <a:avLst/>
          </a:prstGeom>
          <a:noFill/>
        </p:spPr>
        <p:txBody>
          <a:bodyPr wrap="square" anchor="ctr" lIns="0" rIns="0" tIns="0" bIns="0">
            <a:spAutoFit/>
          </a:bodyPr>
          <a:lstStyle/>
          <a:p>
            <a:pPr algn="l">
              <a:spcAft>
                <a:spcPts val="600"/>
              </a:spcAft>
            </a:pPr>
            <a:r>
              <a:rPr sz="1500" b="1" i="0">
                <a:solidFill>
                  <a:srgbClr val="1B1B1B"/>
                </a:solidFill>
                <a:latin typeface="Calibri"/>
              </a:rPr>
              <a:t>Marca o código sin "o equivalente"</a:t>
            </a:r>
          </a:p>
        </p:txBody>
      </p:sp>
      <p:sp>
        <p:nvSpPr>
          <p:cNvPr id="12" name="TextBox 11"/>
          <p:cNvSpPr txBox="1"/>
          <p:nvPr/>
        </p:nvSpPr>
        <p:spPr>
          <a:xfrm>
            <a:off x="9646920" y="2359152"/>
            <a:ext cx="1874519" cy="548640"/>
          </a:xfrm>
          <a:prstGeom prst="rect">
            <a:avLst/>
          </a:prstGeom>
          <a:noFill/>
        </p:spPr>
        <p:txBody>
          <a:bodyPr wrap="square" anchor="ctr" lIns="0" rIns="0" tIns="0" bIns="0">
            <a:spAutoFit/>
          </a:bodyPr>
          <a:lstStyle/>
          <a:p>
            <a:pPr algn="l">
              <a:spcAft>
                <a:spcPts val="600"/>
              </a:spcAft>
            </a:pPr>
            <a:r>
              <a:rPr sz="1200" b="0" i="0">
                <a:solidFill>
                  <a:srgbClr val="52514E"/>
                </a:solidFill>
                <a:latin typeface="Calibri"/>
              </a:rPr>
              <a:t>Cisco, Agilent
|G| = 2</a:t>
            </a:r>
          </a:p>
        </p:txBody>
      </p:sp>
      <p:sp>
        <p:nvSpPr>
          <p:cNvPr id="13" name="Rounded Rectangle 12"/>
          <p:cNvSpPr/>
          <p:nvPr/>
        </p:nvSpPr>
        <p:spPr>
          <a:xfrm>
            <a:off x="4846320" y="3072384"/>
            <a:ext cx="6766560" cy="676656"/>
          </a:xfrm>
          <a:prstGeom prst="roundRect">
            <a:avLst>
              <a:gd name="adj" fmla="val 6000"/>
            </a:avLst>
          </a:prstGeom>
          <a:solidFill>
            <a:srgbClr val="FFFFFF"/>
          </a:solidFill>
          <a:ln w="12700">
            <a:solidFill>
              <a:srgbClr val="D5E3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83480" y="3182112"/>
            <a:ext cx="457200" cy="4572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N2</a:t>
            </a:r>
          </a:p>
        </p:txBody>
      </p:sp>
      <p:sp>
        <p:nvSpPr>
          <p:cNvPr id="15" name="TextBox 14"/>
          <p:cNvSpPr txBox="1"/>
          <p:nvPr/>
        </p:nvSpPr>
        <p:spPr>
          <a:xfrm>
            <a:off x="5623560" y="3145536"/>
            <a:ext cx="4023360" cy="548640"/>
          </a:xfrm>
          <a:prstGeom prst="rect">
            <a:avLst/>
          </a:prstGeom>
          <a:noFill/>
        </p:spPr>
        <p:txBody>
          <a:bodyPr wrap="square" anchor="ctr" lIns="0" rIns="0" tIns="0" bIns="0">
            <a:spAutoFit/>
          </a:bodyPr>
          <a:lstStyle/>
          <a:p>
            <a:pPr algn="l">
              <a:spcAft>
                <a:spcPts val="600"/>
              </a:spcAft>
            </a:pPr>
            <a:r>
              <a:rPr sz="1500" b="1" i="0">
                <a:solidFill>
                  <a:srgbClr val="1B1B1B"/>
                </a:solidFill>
                <a:latin typeface="Calibri"/>
              </a:rPr>
              <a:t>Marca que sí acepta "o equivalente"</a:t>
            </a:r>
          </a:p>
        </p:txBody>
      </p:sp>
      <p:sp>
        <p:nvSpPr>
          <p:cNvPr id="16" name="TextBox 15"/>
          <p:cNvSpPr txBox="1"/>
          <p:nvPr/>
        </p:nvSpPr>
        <p:spPr>
          <a:xfrm>
            <a:off x="9646920" y="3145536"/>
            <a:ext cx="1874519" cy="548640"/>
          </a:xfrm>
          <a:prstGeom prst="rect">
            <a:avLst/>
          </a:prstGeom>
          <a:noFill/>
        </p:spPr>
        <p:txBody>
          <a:bodyPr wrap="square" anchor="ctr" lIns="0" rIns="0" tIns="0" bIns="0">
            <a:spAutoFit/>
          </a:bodyPr>
          <a:lstStyle/>
          <a:p>
            <a:pPr algn="l">
              <a:spcAft>
                <a:spcPts val="600"/>
              </a:spcAft>
            </a:pPr>
            <a:r>
              <a:rPr sz="1200" b="0" i="0">
                <a:solidFill>
                  <a:srgbClr val="52514E"/>
                </a:solidFill>
                <a:latin typeface="Calibri"/>
              </a:rPr>
              <a:t>Oracle, IBM Power
|G| = 4</a:t>
            </a:r>
          </a:p>
        </p:txBody>
      </p:sp>
      <p:sp>
        <p:nvSpPr>
          <p:cNvPr id="17" name="Rounded Rectangle 16"/>
          <p:cNvSpPr/>
          <p:nvPr/>
        </p:nvSpPr>
        <p:spPr>
          <a:xfrm>
            <a:off x="4846320" y="3858768"/>
            <a:ext cx="6766560" cy="676656"/>
          </a:xfrm>
          <a:prstGeom prst="roundRect">
            <a:avLst>
              <a:gd name="adj" fmla="val 6000"/>
            </a:avLst>
          </a:prstGeom>
          <a:solidFill>
            <a:srgbClr val="FFFFFF"/>
          </a:solidFill>
          <a:ln w="12700">
            <a:solidFill>
              <a:srgbClr val="D5E3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983480" y="3968496"/>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N3</a:t>
            </a:r>
          </a:p>
        </p:txBody>
      </p:sp>
      <p:sp>
        <p:nvSpPr>
          <p:cNvPr id="19" name="TextBox 18"/>
          <p:cNvSpPr txBox="1"/>
          <p:nvPr/>
        </p:nvSpPr>
        <p:spPr>
          <a:xfrm>
            <a:off x="5623560" y="3931920"/>
            <a:ext cx="4023360" cy="548640"/>
          </a:xfrm>
          <a:prstGeom prst="rect">
            <a:avLst/>
          </a:prstGeom>
          <a:noFill/>
        </p:spPr>
        <p:txBody>
          <a:bodyPr wrap="square" anchor="ctr" lIns="0" rIns="0" tIns="0" bIns="0">
            <a:spAutoFit/>
          </a:bodyPr>
          <a:lstStyle/>
          <a:p>
            <a:pPr algn="l">
              <a:spcAft>
                <a:spcPts val="600"/>
              </a:spcAft>
            </a:pPr>
            <a:r>
              <a:rPr sz="1500" b="1" i="0">
                <a:solidFill>
                  <a:srgbClr val="1B1B1B"/>
                </a:solidFill>
                <a:latin typeface="Calibri"/>
              </a:rPr>
              <a:t>Insumos para un equipo que ya tiene la entidad</a:t>
            </a:r>
          </a:p>
        </p:txBody>
      </p:sp>
      <p:sp>
        <p:nvSpPr>
          <p:cNvPr id="20" name="TextBox 19"/>
          <p:cNvSpPr txBox="1"/>
          <p:nvPr/>
        </p:nvSpPr>
        <p:spPr>
          <a:xfrm>
            <a:off x="9646920" y="3931920"/>
            <a:ext cx="1874519" cy="548640"/>
          </a:xfrm>
          <a:prstGeom prst="rect">
            <a:avLst/>
          </a:prstGeom>
          <a:noFill/>
        </p:spPr>
        <p:txBody>
          <a:bodyPr wrap="square" anchor="ctr" lIns="0" rIns="0" tIns="0" bIns="0">
            <a:spAutoFit/>
          </a:bodyPr>
          <a:lstStyle/>
          <a:p>
            <a:pPr algn="l">
              <a:spcAft>
                <a:spcPts val="600"/>
              </a:spcAft>
            </a:pPr>
            <a:r>
              <a:rPr sz="1200" b="0" i="0">
                <a:solidFill>
                  <a:srgbClr val="52514E"/>
                </a:solidFill>
                <a:latin typeface="Calibri"/>
              </a:rPr>
              <a:t>Mindray, Epson
|G| = 4</a:t>
            </a:r>
          </a:p>
        </p:txBody>
      </p:sp>
      <p:sp>
        <p:nvSpPr>
          <p:cNvPr id="21" name="Rounded Rectangle 20"/>
          <p:cNvSpPr/>
          <p:nvPr/>
        </p:nvSpPr>
        <p:spPr>
          <a:xfrm>
            <a:off x="4846320" y="4645152"/>
            <a:ext cx="6766560" cy="676656"/>
          </a:xfrm>
          <a:prstGeom prst="roundRect">
            <a:avLst>
              <a:gd name="adj" fmla="val 6000"/>
            </a:avLst>
          </a:prstGeom>
          <a:solidFill>
            <a:srgbClr val="FFFFFF"/>
          </a:solidFill>
          <a:ln w="12700">
            <a:solidFill>
              <a:srgbClr val="D5E3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83480" y="4754880"/>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N4</a:t>
            </a:r>
          </a:p>
        </p:txBody>
      </p:sp>
      <p:sp>
        <p:nvSpPr>
          <p:cNvPr id="23" name="TextBox 22"/>
          <p:cNvSpPr txBox="1"/>
          <p:nvPr/>
        </p:nvSpPr>
        <p:spPr>
          <a:xfrm>
            <a:off x="5623560" y="4718304"/>
            <a:ext cx="4023360" cy="548640"/>
          </a:xfrm>
          <a:prstGeom prst="rect">
            <a:avLst/>
          </a:prstGeom>
          <a:noFill/>
        </p:spPr>
        <p:txBody>
          <a:bodyPr wrap="square" anchor="ctr" lIns="0" rIns="0" tIns="0" bIns="0">
            <a:spAutoFit/>
          </a:bodyPr>
          <a:lstStyle/>
          <a:p>
            <a:pPr algn="l">
              <a:spcAft>
                <a:spcPts val="600"/>
              </a:spcAft>
            </a:pPr>
            <a:r>
              <a:rPr sz="1500" b="1" i="0">
                <a:solidFill>
                  <a:srgbClr val="1B1B1B"/>
                </a:solidFill>
                <a:latin typeface="Calibri"/>
              </a:rPr>
              <a:t>Procesos con un solo postor</a:t>
            </a:r>
          </a:p>
        </p:txBody>
      </p:sp>
      <p:sp>
        <p:nvSpPr>
          <p:cNvPr id="24" name="TextBox 23"/>
          <p:cNvSpPr txBox="1"/>
          <p:nvPr/>
        </p:nvSpPr>
        <p:spPr>
          <a:xfrm>
            <a:off x="9646920" y="4718304"/>
            <a:ext cx="1874519" cy="548640"/>
          </a:xfrm>
          <a:prstGeom prst="rect">
            <a:avLst/>
          </a:prstGeom>
          <a:noFill/>
        </p:spPr>
        <p:txBody>
          <a:bodyPr wrap="square" anchor="ctr" lIns="0" rIns="0" tIns="0" bIns="0">
            <a:spAutoFit/>
          </a:bodyPr>
          <a:lstStyle/>
          <a:p>
            <a:pPr algn="l">
              <a:spcAft>
                <a:spcPts val="600"/>
              </a:spcAft>
            </a:pPr>
            <a:r>
              <a:rPr sz="1200" b="0" i="0">
                <a:solidFill>
                  <a:srgbClr val="52514E"/>
                </a:solidFill>
                <a:latin typeface="Calibri"/>
              </a:rPr>
              <a:t>3 passages de postores
|G| = 3</a:t>
            </a:r>
          </a:p>
        </p:txBody>
      </p:sp>
      <p:sp>
        <p:nvSpPr>
          <p:cNvPr id="25" name="Rounded Rectangle 24"/>
          <p:cNvSpPr/>
          <p:nvPr/>
        </p:nvSpPr>
        <p:spPr>
          <a:xfrm>
            <a:off x="4846320" y="5431536"/>
            <a:ext cx="6766560" cy="676656"/>
          </a:xfrm>
          <a:prstGeom prst="roundRect">
            <a:avLst>
              <a:gd name="adj" fmla="val 6000"/>
            </a:avLst>
          </a:prstGeom>
          <a:solidFill>
            <a:srgbClr val="FFFFFF"/>
          </a:solidFill>
          <a:ln w="12700">
            <a:solidFill>
              <a:srgbClr val="D5E3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983480" y="5541264"/>
            <a:ext cx="457200" cy="4572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N5</a:t>
            </a:r>
          </a:p>
        </p:txBody>
      </p:sp>
      <p:sp>
        <p:nvSpPr>
          <p:cNvPr id="27" name="TextBox 26"/>
          <p:cNvSpPr txBox="1"/>
          <p:nvPr/>
        </p:nvSpPr>
        <p:spPr>
          <a:xfrm>
            <a:off x="5623560" y="5504688"/>
            <a:ext cx="4023360" cy="548640"/>
          </a:xfrm>
          <a:prstGeom prst="rect">
            <a:avLst/>
          </a:prstGeom>
          <a:noFill/>
        </p:spPr>
        <p:txBody>
          <a:bodyPr wrap="square" anchor="ctr" lIns="0" rIns="0" tIns="0" bIns="0">
            <a:spAutoFit/>
          </a:bodyPr>
          <a:lstStyle/>
          <a:p>
            <a:pPr algn="l">
              <a:spcAft>
                <a:spcPts val="600"/>
              </a:spcAft>
            </a:pPr>
            <a:r>
              <a:rPr sz="1500" b="1" i="0">
                <a:solidFill>
                  <a:srgbClr val="1B1B1B"/>
                </a:solidFill>
                <a:latin typeface="Calibri"/>
              </a:rPr>
              <a:t>Ganador y monto de los reactivos Mindray</a:t>
            </a:r>
          </a:p>
        </p:txBody>
      </p:sp>
      <p:sp>
        <p:nvSpPr>
          <p:cNvPr id="28" name="TextBox 27"/>
          <p:cNvSpPr txBox="1"/>
          <p:nvPr/>
        </p:nvSpPr>
        <p:spPr>
          <a:xfrm>
            <a:off x="9646920" y="5504688"/>
            <a:ext cx="1874519" cy="548640"/>
          </a:xfrm>
          <a:prstGeom prst="rect">
            <a:avLst/>
          </a:prstGeom>
          <a:noFill/>
        </p:spPr>
        <p:txBody>
          <a:bodyPr wrap="square" anchor="ctr" lIns="0" rIns="0" tIns="0" bIns="0">
            <a:spAutoFit/>
          </a:bodyPr>
          <a:lstStyle/>
          <a:p>
            <a:pPr algn="l">
              <a:spcAft>
                <a:spcPts val="600"/>
              </a:spcAft>
            </a:pPr>
            <a:r>
              <a:rPr sz="1200" b="0" i="0">
                <a:solidFill>
                  <a:srgbClr val="52514E"/>
                </a:solidFill>
                <a:latin typeface="Calibri"/>
              </a:rPr>
              <a:t>1 passage de buena pro
|G| =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ítulo"/>
          <p:cNvSpPr txBox="1"/>
          <p:nvPr/>
        </p:nvSpPr>
        <p:spPr>
          <a:xfrm>
            <a:off x="548640" y="411480"/>
            <a:ext cx="11064240" cy="685800"/>
          </a:xfrm>
          <a:prstGeom prst="rect">
            <a:avLst/>
          </a:prstGeom>
          <a:noFill/>
        </p:spPr>
        <p:txBody>
          <a:bodyPr wrap="square" anchor="t" lIns="0" rIns="0" tIns="0" bIns="0">
            <a:spAutoFit/>
          </a:bodyPr>
          <a:lstStyle/>
          <a:p>
            <a:pPr algn="l">
              <a:spcAft>
                <a:spcPts val="600"/>
              </a:spcAft>
            </a:pPr>
            <a:r>
              <a:rPr sz="3200" b="1" i="0">
                <a:solidFill>
                  <a:srgbClr val="0F2A4A"/>
                </a:solidFill>
                <a:latin typeface="Calibri"/>
              </a:rPr>
              <a:t>Pipeline: consulta estructurada → embeddings → FAISS</a:t>
            </a:r>
          </a:p>
        </p:txBody>
      </p:sp>
      <p:sp>
        <p:nvSpPr>
          <p:cNvPr id="3" name="Subtítulo"/>
          <p:cNvSpPr txBox="1"/>
          <p:nvPr/>
        </p:nvSpPr>
        <p:spPr>
          <a:xfrm>
            <a:off x="548640" y="1078992"/>
            <a:ext cx="11064240" cy="411480"/>
          </a:xfrm>
          <a:prstGeom prst="rect">
            <a:avLst/>
          </a:prstGeom>
          <a:noFill/>
        </p:spPr>
        <p:txBody>
          <a:bodyPr wrap="square" anchor="t" lIns="0" rIns="0" tIns="0" bIns="0">
            <a:spAutoFit/>
          </a:bodyPr>
          <a:lstStyle/>
          <a:p>
            <a:pPr algn="l">
              <a:spcAft>
                <a:spcPts val="600"/>
              </a:spcAft>
            </a:pPr>
            <a:r>
              <a:rPr sz="1600" b="0" i="0">
                <a:solidFill>
                  <a:srgbClr val="52514E"/>
                </a:solidFill>
                <a:latin typeface="Calibri"/>
              </a:rPr>
              <a:t>Cada etapa es una pieza distinta: encoder ≠ índice ≠ almacén ≠ recuperador</a:t>
            </a:r>
          </a:p>
        </p:txBody>
      </p:sp>
      <p:sp>
        <p:nvSpPr>
          <p:cNvPr id="4" name="Rounded Rectangle 3"/>
          <p:cNvSpPr/>
          <p:nvPr/>
        </p:nvSpPr>
        <p:spPr>
          <a:xfrm>
            <a:off x="548640" y="1874519"/>
            <a:ext cx="1691640" cy="160020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85800" y="2011679"/>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1</a:t>
            </a:r>
          </a:p>
        </p:txBody>
      </p:sp>
      <p:sp>
        <p:nvSpPr>
          <p:cNvPr id="6" name="TextBox 5"/>
          <p:cNvSpPr txBox="1"/>
          <p:nvPr/>
        </p:nvSpPr>
        <p:spPr>
          <a:xfrm>
            <a:off x="685800" y="2496312"/>
            <a:ext cx="1417320" cy="347472"/>
          </a:xfrm>
          <a:prstGeom prst="rect">
            <a:avLst/>
          </a:prstGeom>
          <a:noFill/>
        </p:spPr>
        <p:txBody>
          <a:bodyPr wrap="square" anchor="t" lIns="0" rIns="0" tIns="0" bIns="0">
            <a:spAutoFit/>
          </a:bodyPr>
          <a:lstStyle/>
          <a:p>
            <a:pPr algn="l">
              <a:spcAft>
                <a:spcPts val="600"/>
              </a:spcAft>
            </a:pPr>
            <a:r>
              <a:rPr sz="1500" b="1" i="0">
                <a:solidFill>
                  <a:srgbClr val="0F2A4A"/>
                </a:solidFill>
                <a:latin typeface="Calibri"/>
              </a:rPr>
              <a:t>Necesidad</a:t>
            </a:r>
          </a:p>
        </p:txBody>
      </p:sp>
      <p:sp>
        <p:nvSpPr>
          <p:cNvPr id="7" name="TextBox 6"/>
          <p:cNvSpPr txBox="1"/>
          <p:nvPr/>
        </p:nvSpPr>
        <p:spPr>
          <a:xfrm>
            <a:off x="685800" y="2825496"/>
            <a:ext cx="1463040" cy="640080"/>
          </a:xfrm>
          <a:prstGeom prst="rect">
            <a:avLst/>
          </a:prstGeom>
          <a:noFill/>
        </p:spPr>
        <p:txBody>
          <a:bodyPr wrap="square" anchor="t" lIns="0" rIns="0" tIns="0" bIns="0">
            <a:spAutoFit/>
          </a:bodyPr>
          <a:lstStyle/>
          <a:p>
            <a:pPr algn="l">
              <a:spcAft>
                <a:spcPts val="600"/>
              </a:spcAft>
            </a:pPr>
            <a:r>
              <a:rPr sz="1100" b="0" i="0">
                <a:solidFill>
                  <a:srgbClr val="52514E"/>
                </a:solidFill>
                <a:latin typeface="Calibri"/>
              </a:rPr>
              <a:t>texto del auditor (Q0)</a:t>
            </a:r>
          </a:p>
        </p:txBody>
      </p:sp>
      <p:cxnSp>
        <p:nvCxnSpPr>
          <p:cNvPr id="8" name="Connector 7"/>
          <p:cNvCxnSpPr/>
          <p:nvPr/>
        </p:nvCxnSpPr>
        <p:spPr>
          <a:xfrm>
            <a:off x="2258568" y="2670048"/>
            <a:ext cx="155448" cy="0"/>
          </a:xfrm>
          <a:prstGeom prst="line">
            <a:avLst/>
          </a:prstGeom>
          <a:ln w="22225">
            <a:solidFill>
              <a:srgbClr val="898781"/>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32304" y="1874519"/>
            <a:ext cx="1691640" cy="160020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569464" y="2011679"/>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2</a:t>
            </a:r>
          </a:p>
        </p:txBody>
      </p:sp>
      <p:sp>
        <p:nvSpPr>
          <p:cNvPr id="11" name="TextBox 10"/>
          <p:cNvSpPr txBox="1"/>
          <p:nvPr/>
        </p:nvSpPr>
        <p:spPr>
          <a:xfrm>
            <a:off x="2569464" y="2496312"/>
            <a:ext cx="1417320" cy="347472"/>
          </a:xfrm>
          <a:prstGeom prst="rect">
            <a:avLst/>
          </a:prstGeom>
          <a:noFill/>
        </p:spPr>
        <p:txBody>
          <a:bodyPr wrap="square" anchor="t" lIns="0" rIns="0" tIns="0" bIns="0">
            <a:spAutoFit/>
          </a:bodyPr>
          <a:lstStyle/>
          <a:p>
            <a:pPr algn="l">
              <a:spcAft>
                <a:spcPts val="600"/>
              </a:spcAft>
            </a:pPr>
            <a:r>
              <a:rPr sz="1500" b="1" i="0">
                <a:solidFill>
                  <a:srgbClr val="0F2A4A"/>
                </a:solidFill>
                <a:latin typeface="Calibri"/>
              </a:rPr>
              <a:t>Qwen2.5-0.5B</a:t>
            </a:r>
          </a:p>
        </p:txBody>
      </p:sp>
      <p:sp>
        <p:nvSpPr>
          <p:cNvPr id="12" name="TextBox 11"/>
          <p:cNvSpPr txBox="1"/>
          <p:nvPr/>
        </p:nvSpPr>
        <p:spPr>
          <a:xfrm>
            <a:off x="2569464" y="2825496"/>
            <a:ext cx="1463040" cy="640080"/>
          </a:xfrm>
          <a:prstGeom prst="rect">
            <a:avLst/>
          </a:prstGeom>
          <a:noFill/>
        </p:spPr>
        <p:txBody>
          <a:bodyPr wrap="square" anchor="t" lIns="0" rIns="0" tIns="0" bIns="0">
            <a:spAutoFit/>
          </a:bodyPr>
          <a:lstStyle/>
          <a:p>
            <a:pPr algn="l">
              <a:spcAft>
                <a:spcPts val="600"/>
              </a:spcAft>
            </a:pPr>
            <a:r>
              <a:rPr sz="1100" b="0" i="0">
                <a:solidFill>
                  <a:srgbClr val="52514E"/>
                </a:solidFill>
                <a:latin typeface="Calibri"/>
              </a:rPr>
              <a:t>greedy · prompt con
TAREA / NECESIDAD / CONTEXTO</a:t>
            </a:r>
          </a:p>
        </p:txBody>
      </p:sp>
      <p:cxnSp>
        <p:nvCxnSpPr>
          <p:cNvPr id="13" name="Connector 12"/>
          <p:cNvCxnSpPr/>
          <p:nvPr/>
        </p:nvCxnSpPr>
        <p:spPr>
          <a:xfrm>
            <a:off x="4142231" y="2670048"/>
            <a:ext cx="155449" cy="0"/>
          </a:xfrm>
          <a:prstGeom prst="line">
            <a:avLst/>
          </a:prstGeom>
          <a:ln w="22225">
            <a:solidFill>
              <a:srgbClr val="898781"/>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315968" y="1874519"/>
            <a:ext cx="1691640" cy="1600200"/>
          </a:xfrm>
          <a:prstGeom prst="roundRect">
            <a:avLst>
              <a:gd name="adj" fmla="val 6000"/>
            </a:avLst>
          </a:prstGeom>
          <a:solidFill>
            <a:srgbClr val="FD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53128" y="2011679"/>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3</a:t>
            </a:r>
          </a:p>
        </p:txBody>
      </p:sp>
      <p:sp>
        <p:nvSpPr>
          <p:cNvPr id="16" name="TextBox 15"/>
          <p:cNvSpPr txBox="1"/>
          <p:nvPr/>
        </p:nvSpPr>
        <p:spPr>
          <a:xfrm>
            <a:off x="4453128" y="2496312"/>
            <a:ext cx="1417320" cy="347472"/>
          </a:xfrm>
          <a:prstGeom prst="rect">
            <a:avLst/>
          </a:prstGeom>
          <a:noFill/>
        </p:spPr>
        <p:txBody>
          <a:bodyPr wrap="square" anchor="t" lIns="0" rIns="0" tIns="0" bIns="0">
            <a:spAutoFit/>
          </a:bodyPr>
          <a:lstStyle/>
          <a:p>
            <a:pPr algn="l">
              <a:spcAft>
                <a:spcPts val="600"/>
              </a:spcAft>
            </a:pPr>
            <a:r>
              <a:rPr sz="1500" b="1" i="0">
                <a:solidFill>
                  <a:srgbClr val="0F2A4A"/>
                </a:solidFill>
                <a:latin typeface="Calibri"/>
              </a:rPr>
              <a:t>JSON Schema</a:t>
            </a:r>
          </a:p>
        </p:txBody>
      </p:sp>
      <p:sp>
        <p:nvSpPr>
          <p:cNvPr id="17" name="TextBox 16"/>
          <p:cNvSpPr txBox="1"/>
          <p:nvPr/>
        </p:nvSpPr>
        <p:spPr>
          <a:xfrm>
            <a:off x="4453128" y="2825496"/>
            <a:ext cx="1463040" cy="640080"/>
          </a:xfrm>
          <a:prstGeom prst="rect">
            <a:avLst/>
          </a:prstGeom>
          <a:noFill/>
        </p:spPr>
        <p:txBody>
          <a:bodyPr wrap="square" anchor="t" lIns="0" rIns="0" tIns="0" bIns="0">
            <a:spAutoFit/>
          </a:bodyPr>
          <a:lstStyle/>
          <a:p>
            <a:pPr algn="l">
              <a:spcAft>
                <a:spcPts val="600"/>
              </a:spcAft>
            </a:pPr>
            <a:r>
              <a:rPr sz="1100" b="0" i="0">
                <a:solidFill>
                  <a:srgbClr val="52514E"/>
                </a:solidFill>
                <a:latin typeface="Calibri"/>
              </a:rPr>
              <a:t>parseable → cumple el
schema → intención</a:t>
            </a:r>
          </a:p>
        </p:txBody>
      </p:sp>
      <p:cxnSp>
        <p:nvCxnSpPr>
          <p:cNvPr id="18" name="Connector 17"/>
          <p:cNvCxnSpPr/>
          <p:nvPr/>
        </p:nvCxnSpPr>
        <p:spPr>
          <a:xfrm>
            <a:off x="6025896" y="2670048"/>
            <a:ext cx="155448" cy="0"/>
          </a:xfrm>
          <a:prstGeom prst="line">
            <a:avLst/>
          </a:prstGeom>
          <a:ln w="22225">
            <a:solidFill>
              <a:srgbClr val="898781"/>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99631" y="1874519"/>
            <a:ext cx="1691640" cy="160020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36792" y="2011679"/>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4</a:t>
            </a:r>
          </a:p>
        </p:txBody>
      </p:sp>
      <p:sp>
        <p:nvSpPr>
          <p:cNvPr id="21" name="TextBox 20"/>
          <p:cNvSpPr txBox="1"/>
          <p:nvPr/>
        </p:nvSpPr>
        <p:spPr>
          <a:xfrm>
            <a:off x="6336792" y="2496312"/>
            <a:ext cx="1417320" cy="347472"/>
          </a:xfrm>
          <a:prstGeom prst="rect">
            <a:avLst/>
          </a:prstGeom>
          <a:noFill/>
        </p:spPr>
        <p:txBody>
          <a:bodyPr wrap="square" anchor="t" lIns="0" rIns="0" tIns="0" bIns="0">
            <a:spAutoFit/>
          </a:bodyPr>
          <a:lstStyle/>
          <a:p>
            <a:pPr algn="l">
              <a:spcAft>
                <a:spcPts val="600"/>
              </a:spcAft>
            </a:pPr>
            <a:r>
              <a:rPr sz="1500" b="1" i="0">
                <a:solidFill>
                  <a:srgbClr val="0F2A4A"/>
                </a:solidFill>
                <a:latin typeface="Calibri"/>
              </a:rPr>
              <a:t>e5-small</a:t>
            </a:r>
          </a:p>
        </p:txBody>
      </p:sp>
      <p:sp>
        <p:nvSpPr>
          <p:cNvPr id="22" name="TextBox 21"/>
          <p:cNvSpPr txBox="1"/>
          <p:nvPr/>
        </p:nvSpPr>
        <p:spPr>
          <a:xfrm>
            <a:off x="6336792" y="2825496"/>
            <a:ext cx="1463040" cy="640080"/>
          </a:xfrm>
          <a:prstGeom prst="rect">
            <a:avLst/>
          </a:prstGeom>
          <a:noFill/>
        </p:spPr>
        <p:txBody>
          <a:bodyPr wrap="square" anchor="t" lIns="0" rIns="0" tIns="0" bIns="0">
            <a:spAutoFit/>
          </a:bodyPr>
          <a:lstStyle/>
          <a:p>
            <a:pPr algn="l">
              <a:spcAft>
                <a:spcPts val="600"/>
              </a:spcAft>
            </a:pPr>
            <a:r>
              <a:rPr sz="1100" b="0" i="0">
                <a:solidFill>
                  <a:srgbClr val="52514E"/>
                </a:solidFill>
                <a:latin typeface="Calibri"/>
              </a:rPr>
              <a:t>"query: …" / "passage: …"
384 dim · L2 · minúsculas</a:t>
            </a:r>
          </a:p>
        </p:txBody>
      </p:sp>
      <p:cxnSp>
        <p:nvCxnSpPr>
          <p:cNvPr id="23" name="Connector 22"/>
          <p:cNvCxnSpPr/>
          <p:nvPr/>
        </p:nvCxnSpPr>
        <p:spPr>
          <a:xfrm>
            <a:off x="7909559" y="2670048"/>
            <a:ext cx="155449" cy="0"/>
          </a:xfrm>
          <a:prstGeom prst="line">
            <a:avLst/>
          </a:prstGeom>
          <a:ln w="22225">
            <a:solidFill>
              <a:srgbClr val="898781"/>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083296" y="1874519"/>
            <a:ext cx="1691640" cy="160020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220456" y="2011679"/>
            <a:ext cx="384048" cy="3840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5</a:t>
            </a:r>
          </a:p>
        </p:txBody>
      </p:sp>
      <p:sp>
        <p:nvSpPr>
          <p:cNvPr id="26" name="TextBox 25"/>
          <p:cNvSpPr txBox="1"/>
          <p:nvPr/>
        </p:nvSpPr>
        <p:spPr>
          <a:xfrm>
            <a:off x="8220456" y="2496312"/>
            <a:ext cx="1417320" cy="347472"/>
          </a:xfrm>
          <a:prstGeom prst="rect">
            <a:avLst/>
          </a:prstGeom>
          <a:noFill/>
        </p:spPr>
        <p:txBody>
          <a:bodyPr wrap="square" anchor="t" lIns="0" rIns="0" tIns="0" bIns="0">
            <a:spAutoFit/>
          </a:bodyPr>
          <a:lstStyle/>
          <a:p>
            <a:pPr algn="l">
              <a:spcAft>
                <a:spcPts val="600"/>
              </a:spcAft>
            </a:pPr>
            <a:r>
              <a:rPr sz="1500" b="1" i="0">
                <a:solidFill>
                  <a:srgbClr val="0F2A4A"/>
                </a:solidFill>
                <a:latin typeface="Calibri"/>
              </a:rPr>
              <a:t>IndexFlatIP</a:t>
            </a:r>
          </a:p>
        </p:txBody>
      </p:sp>
      <p:sp>
        <p:nvSpPr>
          <p:cNvPr id="27" name="TextBox 26"/>
          <p:cNvSpPr txBox="1"/>
          <p:nvPr/>
        </p:nvSpPr>
        <p:spPr>
          <a:xfrm>
            <a:off x="8220456" y="2825496"/>
            <a:ext cx="1463040" cy="640080"/>
          </a:xfrm>
          <a:prstGeom prst="rect">
            <a:avLst/>
          </a:prstGeom>
          <a:noFill/>
        </p:spPr>
        <p:txBody>
          <a:bodyPr wrap="square" anchor="t" lIns="0" rIns="0" tIns="0" bIns="0">
            <a:spAutoFit/>
          </a:bodyPr>
          <a:lstStyle/>
          <a:p>
            <a:pPr algn="l">
              <a:spcAft>
                <a:spcPts val="600"/>
              </a:spcAft>
            </a:pPr>
            <a:r>
              <a:rPr sz="1100" b="0" i="0">
                <a:solidFill>
                  <a:srgbClr val="52514E"/>
                </a:solidFill>
                <a:latin typeface="Calibri"/>
              </a:rPr>
              <a:t>producto interno exacto
= coseno (vectores L2)</a:t>
            </a:r>
          </a:p>
        </p:txBody>
      </p:sp>
      <p:cxnSp>
        <p:nvCxnSpPr>
          <p:cNvPr id="28" name="Connector 27"/>
          <p:cNvCxnSpPr/>
          <p:nvPr/>
        </p:nvCxnSpPr>
        <p:spPr>
          <a:xfrm>
            <a:off x="9793224" y="2670048"/>
            <a:ext cx="155448" cy="0"/>
          </a:xfrm>
          <a:prstGeom prst="line">
            <a:avLst/>
          </a:prstGeom>
          <a:ln w="22225">
            <a:solidFill>
              <a:srgbClr val="898781"/>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966960" y="1874519"/>
            <a:ext cx="1691640" cy="1600200"/>
          </a:xfrm>
          <a:prstGeom prst="roundRect">
            <a:avLst>
              <a:gd name="adj" fmla="val 6000"/>
            </a:avLst>
          </a:prstGeom>
          <a:solidFill>
            <a:srgbClr val="FD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104120" y="2011679"/>
            <a:ext cx="384048" cy="3840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6</a:t>
            </a:r>
          </a:p>
        </p:txBody>
      </p:sp>
      <p:sp>
        <p:nvSpPr>
          <p:cNvPr id="31" name="TextBox 30"/>
          <p:cNvSpPr txBox="1"/>
          <p:nvPr/>
        </p:nvSpPr>
        <p:spPr>
          <a:xfrm>
            <a:off x="10104120" y="2496312"/>
            <a:ext cx="1417320" cy="347472"/>
          </a:xfrm>
          <a:prstGeom prst="rect">
            <a:avLst/>
          </a:prstGeom>
          <a:noFill/>
        </p:spPr>
        <p:txBody>
          <a:bodyPr wrap="square" anchor="t" lIns="0" rIns="0" tIns="0" bIns="0">
            <a:spAutoFit/>
          </a:bodyPr>
          <a:lstStyle/>
          <a:p>
            <a:pPr algn="l">
              <a:spcAft>
                <a:spcPts val="600"/>
              </a:spcAft>
            </a:pPr>
            <a:r>
              <a:rPr sz="1500" b="1" i="0">
                <a:solidFill>
                  <a:srgbClr val="0F2A4A"/>
                </a:solidFill>
                <a:latin typeface="Calibri"/>
              </a:rPr>
              <a:t>top-k → Recall@k</a:t>
            </a:r>
          </a:p>
        </p:txBody>
      </p:sp>
      <p:sp>
        <p:nvSpPr>
          <p:cNvPr id="32" name="TextBox 31"/>
          <p:cNvSpPr txBox="1"/>
          <p:nvPr/>
        </p:nvSpPr>
        <p:spPr>
          <a:xfrm>
            <a:off x="10104120" y="2825496"/>
            <a:ext cx="1463040" cy="640080"/>
          </a:xfrm>
          <a:prstGeom prst="rect">
            <a:avLst/>
          </a:prstGeom>
          <a:noFill/>
        </p:spPr>
        <p:txBody>
          <a:bodyPr wrap="square" anchor="t" lIns="0" rIns="0" tIns="0" bIns="0">
            <a:spAutoFit/>
          </a:bodyPr>
          <a:lstStyle/>
          <a:p>
            <a:pPr algn="l">
              <a:spcAft>
                <a:spcPts val="600"/>
              </a:spcAft>
            </a:pPr>
            <a:r>
              <a:rPr sz="1100" b="0" i="0">
                <a:solidFill>
                  <a:srgbClr val="52514E"/>
                </a:solidFill>
                <a:latin typeface="Calibri"/>
              </a:rPr>
              <a:t>k = 1, 3, 5 sobre los
passages relevantes</a:t>
            </a:r>
          </a:p>
        </p:txBody>
      </p:sp>
      <p:sp>
        <p:nvSpPr>
          <p:cNvPr id="33" name="Rounded Rectangle 32"/>
          <p:cNvSpPr/>
          <p:nvPr/>
        </p:nvSpPr>
        <p:spPr>
          <a:xfrm>
            <a:off x="548640" y="3840480"/>
            <a:ext cx="5212080" cy="2423160"/>
          </a:xfrm>
          <a:prstGeom prst="roundRect">
            <a:avLst>
              <a:gd name="adj" fmla="val 6000"/>
            </a:avLst>
          </a:prstGeom>
          <a:solidFill>
            <a:srgbClr val="F6F7F9"/>
          </a:solidFill>
          <a:ln w="12700">
            <a:solidFill>
              <a:srgbClr val="E1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3977639"/>
            <a:ext cx="4846320" cy="320040"/>
          </a:xfrm>
          <a:prstGeom prst="rect">
            <a:avLst/>
          </a:prstGeom>
          <a:noFill/>
        </p:spPr>
        <p:txBody>
          <a:bodyPr wrap="square" anchor="t" lIns="0" rIns="0" tIns="0" bIns="0">
            <a:spAutoFit/>
          </a:bodyPr>
          <a:lstStyle/>
          <a:p>
            <a:pPr algn="l">
              <a:spcAft>
                <a:spcPts val="600"/>
              </a:spcAft>
            </a:pPr>
            <a:r>
              <a:rPr sz="1400" b="1" i="0">
                <a:solidFill>
                  <a:srgbClr val="0F2A4A"/>
                </a:solidFill>
                <a:latin typeface="Calibri"/>
              </a:rPr>
              <a:t>Salida del LLM validada (N4)</a:t>
            </a:r>
          </a:p>
        </p:txBody>
      </p:sp>
      <p:sp>
        <p:nvSpPr>
          <p:cNvPr id="35" name="TextBox 34"/>
          <p:cNvSpPr txBox="1"/>
          <p:nvPr/>
        </p:nvSpPr>
        <p:spPr>
          <a:xfrm>
            <a:off x="777240" y="4389120"/>
            <a:ext cx="4846320" cy="1737360"/>
          </a:xfrm>
          <a:prstGeom prst="rect">
            <a:avLst/>
          </a:prstGeom>
          <a:noFill/>
        </p:spPr>
        <p:txBody>
          <a:bodyPr wrap="square" anchor="t" lIns="0" rIns="0" tIns="0" bIns="0">
            <a:spAutoFit/>
          </a:bodyPr>
          <a:lstStyle/>
          <a:p>
            <a:pPr algn="l">
              <a:spcAft>
                <a:spcPts val="0"/>
              </a:spcAft>
            </a:pPr>
            <a:r>
              <a:rPr sz="1300" b="0" i="0">
                <a:solidFill>
                  <a:srgbClr val="1B1B1B"/>
                </a:solidFill>
                <a:latin typeface="Courier New"/>
              </a:rPr>
              <a:t>{"query": "¿En qué procesos se presentó</a:t>
            </a:r>
          </a:p>
          <a:p>
            <a:pPr algn="l">
              <a:spcAft>
                <a:spcPts val="0"/>
              </a:spcAft>
            </a:pPr>
            <a:r>
              <a:rPr sz="1300" b="0" i="0">
                <a:solidFill>
                  <a:srgbClr val="1B1B1B"/>
                </a:solidFill>
                <a:latin typeface="Courier New"/>
              </a:rPr>
              <a:t>           un solo postor?",</a:t>
            </a:r>
          </a:p>
          <a:p>
            <a:pPr algn="l">
              <a:spcAft>
                <a:spcPts val="0"/>
              </a:spcAft>
            </a:pPr>
            <a:r>
              <a:rPr sz="1300" b="0" i="0">
                <a:solidFill>
                  <a:srgbClr val="1B1B1B"/>
                </a:solidFill>
                <a:latin typeface="Courier New"/>
              </a:rPr>
              <a:t> "intent": "competencia",</a:t>
            </a:r>
          </a:p>
          <a:p>
            <a:pPr algn="l">
              <a:spcAft>
                <a:spcPts val="0"/>
              </a:spcAft>
            </a:pPr>
            <a:r>
              <a:rPr sz="1300" b="0" i="0">
                <a:solidFill>
                  <a:srgbClr val="1B1B1B"/>
                </a:solidFill>
                <a:latin typeface="Courier New"/>
              </a:rPr>
              <a:t> "abstain": false}</a:t>
            </a:r>
          </a:p>
        </p:txBody>
      </p:sp>
      <p:sp>
        <p:nvSpPr>
          <p:cNvPr id="36" name="TextBox 35"/>
          <p:cNvSpPr txBox="1"/>
          <p:nvPr/>
        </p:nvSpPr>
        <p:spPr>
          <a:xfrm>
            <a:off x="777240" y="5577840"/>
            <a:ext cx="4846320" cy="548640"/>
          </a:xfrm>
          <a:prstGeom prst="rect">
            <a:avLst/>
          </a:prstGeom>
          <a:noFill/>
        </p:spPr>
        <p:txBody>
          <a:bodyPr wrap="square" anchor="t" lIns="0" rIns="0" tIns="0" bIns="0">
            <a:spAutoFit/>
          </a:bodyPr>
          <a:lstStyle/>
          <a:p>
            <a:pPr algn="l">
              <a:spcAft>
                <a:spcPts val="600"/>
              </a:spcAft>
            </a:pPr>
            <a:r>
              <a:rPr sz="1200" b="0" i="0">
                <a:solidFill>
                  <a:srgbClr val="52514E"/>
                </a:solidFill>
                <a:latin typeface="Calibri"/>
              </a:rPr>
              <a:t>parseable ✓ · schema-valid ✓ · intención correcta ✓
al encoder: "query: ¿en qué procesos se presentó un solo postor?"</a:t>
            </a:r>
          </a:p>
        </p:txBody>
      </p:sp>
      <p:graphicFrame>
        <p:nvGraphicFramePr>
          <p:cNvPr id="37" name="Table 36"/>
          <p:cNvGraphicFramePr>
            <a:graphicFrameLocks noGrp="1"/>
          </p:cNvGraphicFramePr>
          <p:nvPr/>
        </p:nvGraphicFramePr>
        <p:xfrm>
          <a:off x="6126480" y="3840480"/>
          <a:ext cx="5486400" cy="1463040"/>
        </p:xfrm>
        <a:graphic>
          <a:graphicData uri="http://schemas.openxmlformats.org/drawingml/2006/table">
            <a:tbl>
              <a:tblPr firstRow="1" bandRow="1">
                <a:tableStyleId>{5C22544A-7EE6-4342-B048-85BDC9FD1C3A}</a:tableStyleId>
              </a:tblPr>
              <a:tblGrid>
                <a:gridCol w="1188720"/>
                <a:gridCol w="1143000"/>
                <a:gridCol w="868680"/>
                <a:gridCol w="1234440"/>
                <a:gridCol w="1051560"/>
              </a:tblGrid>
              <a:tr h="365760">
                <a:tc>
                  <a:txBody>
                    <a:bodyPr wrap="square"/>
                    <a:lstStyle/>
                    <a:p>
                      <a:pPr algn="l"/>
                      <a:r>
                        <a:rPr sz="1300" b="1">
                          <a:solidFill>
                            <a:srgbClr val="FFFFFF"/>
                          </a:solidFill>
                          <a:latin typeface="Calibri"/>
                        </a:rPr>
                        <a:t>Chunk</a:t>
                      </a:r>
                    </a:p>
                  </a:txBody>
                  <a:tcPr marL="73152" marR="73152" marT="27432" marB="27432" anchor="ctr">
                    <a:solidFill>
                      <a:srgbClr val="2A78D6"/>
                    </a:solidFill>
                  </a:tcPr>
                </a:tc>
                <a:tc>
                  <a:txBody>
                    <a:bodyPr wrap="square"/>
                    <a:lstStyle/>
                    <a:p>
                      <a:pPr algn="ctr"/>
                      <a:r>
                        <a:rPr sz="1300" b="1">
                          <a:solidFill>
                            <a:srgbClr val="FFFFFF"/>
                          </a:solidFill>
                          <a:latin typeface="Calibri"/>
                        </a:rPr>
                        <a:t>target_words</a:t>
                      </a:r>
                    </a:p>
                  </a:txBody>
                  <a:tcPr marL="73152" marR="73152" marT="27432" marB="27432" anchor="ctr">
                    <a:solidFill>
                      <a:srgbClr val="2A78D6"/>
                    </a:solidFill>
                  </a:tcPr>
                </a:tc>
                <a:tc>
                  <a:txBody>
                    <a:bodyPr wrap="square"/>
                    <a:lstStyle/>
                    <a:p>
                      <a:pPr algn="ctr"/>
                      <a:r>
                        <a:rPr sz="1300" b="1">
                          <a:solidFill>
                            <a:srgbClr val="FFFFFF"/>
                          </a:solidFill>
                          <a:latin typeface="Calibri"/>
                        </a:rPr>
                        <a:t>chunks</a:t>
                      </a:r>
                    </a:p>
                  </a:txBody>
                  <a:tcPr marL="73152" marR="73152" marT="27432" marB="27432" anchor="ctr">
                    <a:solidFill>
                      <a:srgbClr val="2A78D6"/>
                    </a:solidFill>
                  </a:tcPr>
                </a:tc>
                <a:tc>
                  <a:txBody>
                    <a:bodyPr wrap="square"/>
                    <a:lstStyle/>
                    <a:p>
                      <a:pPr algn="ctr"/>
                      <a:r>
                        <a:rPr sz="1300" b="1">
                          <a:solidFill>
                            <a:srgbClr val="FFFFFF"/>
                          </a:solidFill>
                          <a:latin typeface="Calibri"/>
                        </a:rPr>
                        <a:t>palabras media</a:t>
                      </a:r>
                    </a:p>
                  </a:txBody>
                  <a:tcPr marL="73152" marR="73152" marT="27432" marB="27432" anchor="ctr">
                    <a:solidFill>
                      <a:srgbClr val="2A78D6"/>
                    </a:solidFill>
                  </a:tcPr>
                </a:tc>
                <a:tc>
                  <a:txBody>
                    <a:bodyPr wrap="square"/>
                    <a:lstStyle/>
                    <a:p>
                      <a:pPr algn="ctr"/>
                      <a:r>
                        <a:rPr sz="1300" b="1">
                          <a:solidFill>
                            <a:srgbClr val="FFFFFF"/>
                          </a:solidFill>
                          <a:latin typeface="Calibri"/>
                        </a:rPr>
                        <a:t>tokens máx.</a:t>
                      </a:r>
                    </a:p>
                  </a:txBody>
                  <a:tcPr marL="73152" marR="73152" marT="27432" marB="27432" anchor="ctr">
                    <a:solidFill>
                      <a:srgbClr val="2A78D6"/>
                    </a:solidFill>
                  </a:tcPr>
                </a:tc>
              </a:tr>
              <a:tr h="365760">
                <a:tc>
                  <a:txBody>
                    <a:bodyPr wrap="square"/>
                    <a:lstStyle/>
                    <a:p>
                      <a:pPr algn="l"/>
                      <a:r>
                        <a:rPr sz="1300" b="0">
                          <a:solidFill>
                            <a:srgbClr val="1B1B1B"/>
                          </a:solidFill>
                          <a:latin typeface="Calibri"/>
                        </a:rPr>
                        <a:t>small</a:t>
                      </a:r>
                    </a:p>
                  </a:txBody>
                  <a:tcPr marL="73152" marR="73152" marT="27432" marB="27432" anchor="ctr">
                    <a:solidFill>
                      <a:srgbClr val="FFFFFF"/>
                    </a:solidFill>
                  </a:tcPr>
                </a:tc>
                <a:tc>
                  <a:txBody>
                    <a:bodyPr wrap="square"/>
                    <a:lstStyle/>
                    <a:p>
                      <a:pPr algn="ctr"/>
                      <a:r>
                        <a:rPr sz="1300" b="0">
                          <a:solidFill>
                            <a:srgbClr val="1B1B1B"/>
                          </a:solidFill>
                          <a:latin typeface="Calibri"/>
                        </a:rPr>
                        <a:t>100</a:t>
                      </a:r>
                    </a:p>
                  </a:txBody>
                  <a:tcPr marL="73152" marR="73152" marT="27432" marB="27432" anchor="ctr">
                    <a:solidFill>
                      <a:srgbClr val="FFFFFF"/>
                    </a:solidFill>
                  </a:tcPr>
                </a:tc>
                <a:tc>
                  <a:txBody>
                    <a:bodyPr wrap="square"/>
                    <a:lstStyle/>
                    <a:p>
                      <a:pPr algn="ctr"/>
                      <a:r>
                        <a:rPr sz="1300" b="0">
                          <a:solidFill>
                            <a:srgbClr val="1B1B1B"/>
                          </a:solidFill>
                          <a:latin typeface="Calibri"/>
                        </a:rPr>
                        <a:t>36</a:t>
                      </a:r>
                    </a:p>
                  </a:txBody>
                  <a:tcPr marL="73152" marR="73152" marT="27432" marB="27432" anchor="ctr">
                    <a:solidFill>
                      <a:srgbClr val="FFFFFF"/>
                    </a:solidFill>
                  </a:tcPr>
                </a:tc>
                <a:tc>
                  <a:txBody>
                    <a:bodyPr wrap="square"/>
                    <a:lstStyle/>
                    <a:p>
                      <a:pPr algn="ctr"/>
                      <a:r>
                        <a:rPr sz="1300" b="0">
                          <a:solidFill>
                            <a:srgbClr val="1B1B1B"/>
                          </a:solidFill>
                          <a:latin typeface="Calibri"/>
                        </a:rPr>
                        <a:t>80</a:t>
                      </a:r>
                    </a:p>
                  </a:txBody>
                  <a:tcPr marL="73152" marR="73152" marT="27432" marB="27432" anchor="ctr">
                    <a:solidFill>
                      <a:srgbClr val="FFFFFF"/>
                    </a:solidFill>
                  </a:tcPr>
                </a:tc>
                <a:tc>
                  <a:txBody>
                    <a:bodyPr wrap="square"/>
                    <a:lstStyle/>
                    <a:p>
                      <a:pPr algn="ctr"/>
                      <a:r>
                        <a:rPr sz="1300" b="0">
                          <a:solidFill>
                            <a:srgbClr val="1B1B1B"/>
                          </a:solidFill>
                          <a:latin typeface="Calibri"/>
                        </a:rPr>
                        <a:t>236</a:t>
                      </a:r>
                    </a:p>
                  </a:txBody>
                  <a:tcPr marL="73152" marR="73152" marT="27432" marB="27432" anchor="ctr">
                    <a:solidFill>
                      <a:srgbClr val="FFFFFF"/>
                    </a:solidFill>
                  </a:tcPr>
                </a:tc>
              </a:tr>
              <a:tr h="365760">
                <a:tc>
                  <a:txBody>
                    <a:bodyPr wrap="square"/>
                    <a:lstStyle/>
                    <a:p>
                      <a:pPr algn="l"/>
                      <a:r>
                        <a:rPr sz="1300" b="0">
                          <a:solidFill>
                            <a:srgbClr val="1B1B1B"/>
                          </a:solidFill>
                          <a:latin typeface="Calibri"/>
                        </a:rPr>
                        <a:t>baseline</a:t>
                      </a:r>
                    </a:p>
                  </a:txBody>
                  <a:tcPr marL="73152" marR="73152" marT="27432" marB="27432" anchor="ctr">
                    <a:solidFill>
                      <a:srgbClr val="EEF4FC"/>
                    </a:solidFill>
                  </a:tcPr>
                </a:tc>
                <a:tc>
                  <a:txBody>
                    <a:bodyPr wrap="square"/>
                    <a:lstStyle/>
                    <a:p>
                      <a:pPr algn="ctr"/>
                      <a:r>
                        <a:rPr sz="1300" b="0">
                          <a:solidFill>
                            <a:srgbClr val="1B1B1B"/>
                          </a:solidFill>
                          <a:latin typeface="Calibri"/>
                        </a:rPr>
                        <a:t>180</a:t>
                      </a:r>
                    </a:p>
                  </a:txBody>
                  <a:tcPr marL="73152" marR="73152" marT="27432" marB="27432" anchor="ctr">
                    <a:solidFill>
                      <a:srgbClr val="EEF4FC"/>
                    </a:solidFill>
                  </a:tcPr>
                </a:tc>
                <a:tc>
                  <a:txBody>
                    <a:bodyPr wrap="square"/>
                    <a:lstStyle/>
                    <a:p>
                      <a:pPr algn="ctr"/>
                      <a:r>
                        <a:rPr sz="1300" b="0">
                          <a:solidFill>
                            <a:srgbClr val="1B1B1B"/>
                          </a:solidFill>
                          <a:latin typeface="Calibri"/>
                        </a:rPr>
                        <a:t>18</a:t>
                      </a:r>
                    </a:p>
                  </a:txBody>
                  <a:tcPr marL="73152" marR="73152" marT="27432" marB="27432" anchor="ctr">
                    <a:solidFill>
                      <a:srgbClr val="EEF4FC"/>
                    </a:solidFill>
                  </a:tcPr>
                </a:tc>
                <a:tc>
                  <a:txBody>
                    <a:bodyPr wrap="square"/>
                    <a:lstStyle/>
                    <a:p>
                      <a:pPr algn="ctr"/>
                      <a:r>
                        <a:rPr sz="1300" b="0">
                          <a:solidFill>
                            <a:srgbClr val="1B1B1B"/>
                          </a:solidFill>
                          <a:latin typeface="Calibri"/>
                        </a:rPr>
                        <a:t>137</a:t>
                      </a:r>
                    </a:p>
                  </a:txBody>
                  <a:tcPr marL="73152" marR="73152" marT="27432" marB="27432" anchor="ctr">
                    <a:solidFill>
                      <a:srgbClr val="EEF4FC"/>
                    </a:solidFill>
                  </a:tcPr>
                </a:tc>
                <a:tc>
                  <a:txBody>
                    <a:bodyPr wrap="square"/>
                    <a:lstStyle/>
                    <a:p>
                      <a:pPr algn="ctr"/>
                      <a:r>
                        <a:rPr sz="1300" b="0">
                          <a:solidFill>
                            <a:srgbClr val="1B1B1B"/>
                          </a:solidFill>
                          <a:latin typeface="Calibri"/>
                        </a:rPr>
                        <a:t>365</a:t>
                      </a:r>
                    </a:p>
                  </a:txBody>
                  <a:tcPr marL="73152" marR="73152" marT="27432" marB="27432" anchor="ctr">
                    <a:solidFill>
                      <a:srgbClr val="EEF4FC"/>
                    </a:solidFill>
                  </a:tcPr>
                </a:tc>
              </a:tr>
              <a:tr h="365760">
                <a:tc>
                  <a:txBody>
                    <a:bodyPr wrap="square"/>
                    <a:lstStyle/>
                    <a:p>
                      <a:pPr algn="l"/>
                      <a:r>
                        <a:rPr sz="1300" b="0">
                          <a:solidFill>
                            <a:srgbClr val="1B1B1B"/>
                          </a:solidFill>
                          <a:latin typeface="Calibri"/>
                        </a:rPr>
                        <a:t>large</a:t>
                      </a:r>
                    </a:p>
                  </a:txBody>
                  <a:tcPr marL="73152" marR="73152" marT="27432" marB="27432" anchor="ctr">
                    <a:solidFill>
                      <a:srgbClr val="FFFFFF"/>
                    </a:solidFill>
                  </a:tcPr>
                </a:tc>
                <a:tc>
                  <a:txBody>
                    <a:bodyPr wrap="square"/>
                    <a:lstStyle/>
                    <a:p>
                      <a:pPr algn="ctr"/>
                      <a:r>
                        <a:rPr sz="1300" b="0">
                          <a:solidFill>
                            <a:srgbClr val="1B1B1B"/>
                          </a:solidFill>
                          <a:latin typeface="Calibri"/>
                        </a:rPr>
                        <a:t>320</a:t>
                      </a:r>
                    </a:p>
                  </a:txBody>
                  <a:tcPr marL="73152" marR="73152" marT="27432" marB="27432" anchor="ctr">
                    <a:solidFill>
                      <a:srgbClr val="FFFFFF"/>
                    </a:solidFill>
                  </a:tcPr>
                </a:tc>
                <a:tc>
                  <a:txBody>
                    <a:bodyPr wrap="square"/>
                    <a:lstStyle/>
                    <a:p>
                      <a:pPr algn="ctr"/>
                      <a:r>
                        <a:rPr sz="1300" b="0">
                          <a:solidFill>
                            <a:srgbClr val="1B1B1B"/>
                          </a:solidFill>
                          <a:latin typeface="Calibri"/>
                        </a:rPr>
                        <a:t>13</a:t>
                      </a:r>
                    </a:p>
                  </a:txBody>
                  <a:tcPr marL="73152" marR="73152" marT="27432" marB="27432" anchor="ctr">
                    <a:solidFill>
                      <a:srgbClr val="FFFFFF"/>
                    </a:solidFill>
                  </a:tcPr>
                </a:tc>
                <a:tc>
                  <a:txBody>
                    <a:bodyPr wrap="square"/>
                    <a:lstStyle/>
                    <a:p>
                      <a:pPr algn="ctr"/>
                      <a:r>
                        <a:rPr sz="1300" b="0">
                          <a:solidFill>
                            <a:srgbClr val="1B1B1B"/>
                          </a:solidFill>
                          <a:latin typeface="Calibri"/>
                        </a:rPr>
                        <a:t>179</a:t>
                      </a:r>
                    </a:p>
                  </a:txBody>
                  <a:tcPr marL="73152" marR="73152" marT="27432" marB="27432" anchor="ctr">
                    <a:solidFill>
                      <a:srgbClr val="FFFFFF"/>
                    </a:solidFill>
                  </a:tcPr>
                </a:tc>
                <a:tc>
                  <a:txBody>
                    <a:bodyPr wrap="square"/>
                    <a:lstStyle/>
                    <a:p>
                      <a:pPr algn="ctr"/>
                      <a:r>
                        <a:rPr sz="1300" b="0">
                          <a:solidFill>
                            <a:srgbClr val="1B1B1B"/>
                          </a:solidFill>
                          <a:latin typeface="Calibri"/>
                        </a:rPr>
                        <a:t>502</a:t>
                      </a:r>
                    </a:p>
                  </a:txBody>
                  <a:tcPr marL="73152" marR="73152" marT="27432" marB="27432" anchor="ctr">
                    <a:solidFill>
                      <a:srgbClr val="FFFFFF"/>
                    </a:solidFill>
                  </a:tcPr>
                </a:tc>
              </a:tr>
            </a:tbl>
          </a:graphicData>
        </a:graphic>
      </p:graphicFrame>
      <p:sp>
        <p:nvSpPr>
          <p:cNvPr id="38" name="TextBox 37"/>
          <p:cNvSpPr txBox="1"/>
          <p:nvPr/>
        </p:nvSpPr>
        <p:spPr>
          <a:xfrm>
            <a:off x="6126480" y="5394960"/>
            <a:ext cx="5486400" cy="868680"/>
          </a:xfrm>
          <a:prstGeom prst="rect">
            <a:avLst/>
          </a:prstGeom>
          <a:noFill/>
        </p:spPr>
        <p:txBody>
          <a:bodyPr wrap="square" anchor="t" lIns="0" rIns="0" tIns="0" bIns="0">
            <a:spAutoFit/>
          </a:bodyPr>
          <a:lstStyle/>
          <a:p>
            <a:pPr algn="l">
              <a:spcAft>
                <a:spcPts val="600"/>
              </a:spcAft>
            </a:pPr>
            <a:r>
              <a:rPr sz="1300" b="1" i="0">
                <a:solidFill>
                  <a:srgbClr val="52514E"/>
                </a:solidFill>
                <a:latin typeface="Calibri"/>
              </a:rPr>
              <a:t>Sin truncación: </a:t>
            </a:r>
            <a:r>
              <a:rPr sz="1300" b="0" i="0">
                <a:solidFill>
                  <a:srgbClr val="52514E"/>
                </a:solidFill>
                <a:latin typeface="Calibri"/>
              </a:rPr>
              <a:t>el texto SEACE ocupa ~2 tokens por palabra; el chunker se cierra antes de 512 tokens (3 de 13 chunks de la condición large).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ítulo"/>
          <p:cNvSpPr txBox="1"/>
          <p:nvPr/>
        </p:nvSpPr>
        <p:spPr>
          <a:xfrm>
            <a:off x="548640" y="411480"/>
            <a:ext cx="11064240" cy="685800"/>
          </a:xfrm>
          <a:prstGeom prst="rect">
            <a:avLst/>
          </a:prstGeom>
          <a:noFill/>
        </p:spPr>
        <p:txBody>
          <a:bodyPr wrap="square" anchor="t" lIns="0" rIns="0" tIns="0" bIns="0">
            <a:spAutoFit/>
          </a:bodyPr>
          <a:lstStyle/>
          <a:p>
            <a:pPr algn="l">
              <a:spcAft>
                <a:spcPts val="600"/>
              </a:spcAft>
            </a:pPr>
            <a:r>
              <a:rPr sz="3200" b="1" i="0">
                <a:solidFill>
                  <a:srgbClr val="0F2A4A"/>
                </a:solidFill>
                <a:latin typeface="Calibri"/>
              </a:rPr>
              <a:t>Dos experimentos, una variable a la vez</a:t>
            </a:r>
          </a:p>
        </p:txBody>
      </p:sp>
      <p:sp>
        <p:nvSpPr>
          <p:cNvPr id="3" name="Subtítulo"/>
          <p:cNvSpPr txBox="1"/>
          <p:nvPr/>
        </p:nvSpPr>
        <p:spPr>
          <a:xfrm>
            <a:off x="548640" y="1078992"/>
            <a:ext cx="11064240" cy="411480"/>
          </a:xfrm>
          <a:prstGeom prst="rect">
            <a:avLst/>
          </a:prstGeom>
          <a:noFill/>
        </p:spPr>
        <p:txBody>
          <a:bodyPr wrap="square" anchor="t" lIns="0" rIns="0" tIns="0" bIns="0">
            <a:spAutoFit/>
          </a:bodyPr>
          <a:lstStyle/>
          <a:p>
            <a:pPr algn="l">
              <a:spcAft>
                <a:spcPts val="600"/>
              </a:spcAft>
            </a:pPr>
            <a:r>
              <a:rPr sz="1600" b="0" i="0">
                <a:solidFill>
                  <a:srgbClr val="52514E"/>
                </a:solidFill>
                <a:latin typeface="Calibri"/>
              </a:rPr>
              <a:t>La métrica principal de la discusión es mean Recall@3</a:t>
            </a:r>
          </a:p>
        </p:txBody>
      </p:sp>
      <p:sp>
        <p:nvSpPr>
          <p:cNvPr id="4" name="Rounded Rectangle 3"/>
          <p:cNvSpPr/>
          <p:nvPr/>
        </p:nvSpPr>
        <p:spPr>
          <a:xfrm>
            <a:off x="548640" y="1783080"/>
            <a:ext cx="5349240" cy="448056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201168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6" name="TextBox 5"/>
          <p:cNvSpPr txBox="1"/>
          <p:nvPr/>
        </p:nvSpPr>
        <p:spPr>
          <a:xfrm>
            <a:off x="1508760" y="1993392"/>
            <a:ext cx="4206240" cy="365760"/>
          </a:xfrm>
          <a:prstGeom prst="rect">
            <a:avLst/>
          </a:prstGeom>
          <a:noFill/>
        </p:spPr>
        <p:txBody>
          <a:bodyPr wrap="square" anchor="t" lIns="0" rIns="0" tIns="0" bIns="0">
            <a:spAutoFit/>
          </a:bodyPr>
          <a:lstStyle/>
          <a:p>
            <a:pPr algn="l">
              <a:spcAft>
                <a:spcPts val="600"/>
              </a:spcAft>
            </a:pPr>
            <a:r>
              <a:rPr sz="2000" b="1" i="0">
                <a:solidFill>
                  <a:srgbClr val="0F2A4A"/>
                </a:solidFill>
                <a:latin typeface="Calibri"/>
              </a:rPr>
              <a:t>Exp. 1 · Consulta</a:t>
            </a:r>
          </a:p>
        </p:txBody>
      </p:sp>
      <p:sp>
        <p:nvSpPr>
          <p:cNvPr id="7" name="TextBox 6"/>
          <p:cNvSpPr txBox="1"/>
          <p:nvPr/>
        </p:nvSpPr>
        <p:spPr>
          <a:xfrm>
            <a:off x="1508760" y="2359152"/>
            <a:ext cx="4206240" cy="274320"/>
          </a:xfrm>
          <a:prstGeom prst="rect">
            <a:avLst/>
          </a:prstGeom>
          <a:noFill/>
        </p:spPr>
        <p:txBody>
          <a:bodyPr wrap="square" anchor="t" lIns="0" rIns="0" tIns="0" bIns="0">
            <a:spAutoFit/>
          </a:bodyPr>
          <a:lstStyle/>
          <a:p>
            <a:pPr algn="l">
              <a:spcAft>
                <a:spcPts val="600"/>
              </a:spcAft>
            </a:pPr>
            <a:r>
              <a:rPr sz="1300" b="0" i="1">
                <a:solidFill>
                  <a:srgbClr val="52514E"/>
                </a:solidFill>
                <a:latin typeface="Calibri"/>
              </a:rPr>
              <a:t>basado en prompts</a:t>
            </a:r>
          </a:p>
        </p:txBody>
      </p:sp>
      <p:sp>
        <p:nvSpPr>
          <p:cNvPr id="8" name="TextBox 7"/>
          <p:cNvSpPr txBox="1"/>
          <p:nvPr/>
        </p:nvSpPr>
        <p:spPr>
          <a:xfrm>
            <a:off x="868680" y="2971800"/>
            <a:ext cx="1143000" cy="731520"/>
          </a:xfrm>
          <a:prstGeom prst="rect">
            <a:avLst/>
          </a:prstGeom>
          <a:noFill/>
        </p:spPr>
        <p:txBody>
          <a:bodyPr wrap="square" anchor="t" lIns="0" rIns="0" tIns="0" bIns="0">
            <a:spAutoFit/>
          </a:bodyPr>
          <a:lstStyle/>
          <a:p>
            <a:pPr algn="l">
              <a:spcAft>
                <a:spcPts val="600"/>
              </a:spcAft>
            </a:pPr>
            <a:r>
              <a:rPr sz="1400" b="1" i="0">
                <a:solidFill>
                  <a:srgbClr val="2A78D6"/>
                </a:solidFill>
                <a:latin typeface="Calibri"/>
              </a:rPr>
              <a:t>Compara</a:t>
            </a:r>
          </a:p>
        </p:txBody>
      </p:sp>
      <p:sp>
        <p:nvSpPr>
          <p:cNvPr id="9" name="TextBox 8"/>
          <p:cNvSpPr txBox="1"/>
          <p:nvPr/>
        </p:nvSpPr>
        <p:spPr>
          <a:xfrm>
            <a:off x="2011680" y="2971800"/>
            <a:ext cx="3657600" cy="777240"/>
          </a:xfrm>
          <a:prstGeom prst="rect">
            <a:avLst/>
          </a:prstGeom>
          <a:noFill/>
        </p:spPr>
        <p:txBody>
          <a:bodyPr wrap="square" anchor="t" lIns="0" rIns="0" tIns="0" bIns="0">
            <a:spAutoFit/>
          </a:bodyPr>
          <a:lstStyle/>
          <a:p>
            <a:pPr algn="l">
              <a:spcAft>
                <a:spcPts val="600"/>
              </a:spcAft>
            </a:pPr>
            <a:r>
              <a:rPr sz="1400" b="0" i="0">
                <a:solidFill>
                  <a:srgbClr val="1B1B1B"/>
                </a:solidFill>
                <a:latin typeface="Calibri"/>
              </a:rPr>
              <a:t>Q0 = necesidad original  vs  Q1 = campo query del JSON del LLM</a:t>
            </a:r>
          </a:p>
        </p:txBody>
      </p:sp>
      <p:sp>
        <p:nvSpPr>
          <p:cNvPr id="10" name="TextBox 9"/>
          <p:cNvSpPr txBox="1"/>
          <p:nvPr/>
        </p:nvSpPr>
        <p:spPr>
          <a:xfrm>
            <a:off x="868680" y="3776472"/>
            <a:ext cx="1143000" cy="731520"/>
          </a:xfrm>
          <a:prstGeom prst="rect">
            <a:avLst/>
          </a:prstGeom>
          <a:noFill/>
        </p:spPr>
        <p:txBody>
          <a:bodyPr wrap="square" anchor="t" lIns="0" rIns="0" tIns="0" bIns="0">
            <a:spAutoFit/>
          </a:bodyPr>
          <a:lstStyle/>
          <a:p>
            <a:pPr algn="l">
              <a:spcAft>
                <a:spcPts val="600"/>
              </a:spcAft>
            </a:pPr>
            <a:r>
              <a:rPr sz="1400" b="1" i="0">
                <a:solidFill>
                  <a:srgbClr val="2A78D6"/>
                </a:solidFill>
                <a:latin typeface="Calibri"/>
              </a:rPr>
              <a:t>Fijos</a:t>
            </a:r>
          </a:p>
        </p:txBody>
      </p:sp>
      <p:sp>
        <p:nvSpPr>
          <p:cNvPr id="11" name="TextBox 10"/>
          <p:cNvSpPr txBox="1"/>
          <p:nvPr/>
        </p:nvSpPr>
        <p:spPr>
          <a:xfrm>
            <a:off x="2011680" y="3776472"/>
            <a:ext cx="3657600" cy="777240"/>
          </a:xfrm>
          <a:prstGeom prst="rect">
            <a:avLst/>
          </a:prstGeom>
          <a:noFill/>
        </p:spPr>
        <p:txBody>
          <a:bodyPr wrap="square" anchor="t" lIns="0" rIns="0" tIns="0" bIns="0">
            <a:spAutoFit/>
          </a:bodyPr>
          <a:lstStyle/>
          <a:p>
            <a:pPr algn="l">
              <a:spcAft>
                <a:spcPts val="600"/>
              </a:spcAft>
            </a:pPr>
            <a:r>
              <a:rPr sz="1400" b="0" i="0">
                <a:solidFill>
                  <a:srgbClr val="1B1B1B"/>
                </a:solidFill>
                <a:latin typeface="Calibri"/>
              </a:rPr>
              <a:t>corpus · chunk 180 palabras · overlap 1 · e5-small · L2 · IndexFlatIP · k</a:t>
            </a:r>
          </a:p>
        </p:txBody>
      </p:sp>
      <p:sp>
        <p:nvSpPr>
          <p:cNvPr id="12" name="TextBox 11"/>
          <p:cNvSpPr txBox="1"/>
          <p:nvPr/>
        </p:nvSpPr>
        <p:spPr>
          <a:xfrm>
            <a:off x="868680" y="4581144"/>
            <a:ext cx="1143000" cy="731520"/>
          </a:xfrm>
          <a:prstGeom prst="rect">
            <a:avLst/>
          </a:prstGeom>
          <a:noFill/>
        </p:spPr>
        <p:txBody>
          <a:bodyPr wrap="square" anchor="t" lIns="0" rIns="0" tIns="0" bIns="0">
            <a:spAutoFit/>
          </a:bodyPr>
          <a:lstStyle/>
          <a:p>
            <a:pPr algn="l">
              <a:spcAft>
                <a:spcPts val="600"/>
              </a:spcAft>
            </a:pPr>
            <a:r>
              <a:rPr sz="1400" b="1" i="0">
                <a:solidFill>
                  <a:srgbClr val="2A78D6"/>
                </a:solidFill>
                <a:latin typeface="Calibri"/>
              </a:rPr>
              <a:t>Mide</a:t>
            </a:r>
          </a:p>
        </p:txBody>
      </p:sp>
      <p:sp>
        <p:nvSpPr>
          <p:cNvPr id="13" name="TextBox 12"/>
          <p:cNvSpPr txBox="1"/>
          <p:nvPr/>
        </p:nvSpPr>
        <p:spPr>
          <a:xfrm>
            <a:off x="2011680" y="4581144"/>
            <a:ext cx="3657600" cy="777240"/>
          </a:xfrm>
          <a:prstGeom prst="rect">
            <a:avLst/>
          </a:prstGeom>
          <a:noFill/>
        </p:spPr>
        <p:txBody>
          <a:bodyPr wrap="square" anchor="t" lIns="0" rIns="0" tIns="0" bIns="0">
            <a:spAutoFit/>
          </a:bodyPr>
          <a:lstStyle/>
          <a:p>
            <a:pPr algn="l">
              <a:spcAft>
                <a:spcPts val="600"/>
              </a:spcAft>
            </a:pPr>
            <a:r>
              <a:rPr sz="1400" b="0" i="0">
                <a:solidFill>
                  <a:srgbClr val="1B1B1B"/>
                </a:solidFill>
                <a:latin typeface="Calibri"/>
              </a:rPr>
              <a:t>schema_valid_rate, intención correcta y Recall@1/3/5 de Q0 vs Q1</a:t>
            </a:r>
          </a:p>
        </p:txBody>
      </p:sp>
      <p:sp>
        <p:nvSpPr>
          <p:cNvPr id="14" name="TextBox 13"/>
          <p:cNvSpPr txBox="1"/>
          <p:nvPr/>
        </p:nvSpPr>
        <p:spPr>
          <a:xfrm>
            <a:off x="868680" y="5385816"/>
            <a:ext cx="1143000" cy="731520"/>
          </a:xfrm>
          <a:prstGeom prst="rect">
            <a:avLst/>
          </a:prstGeom>
          <a:noFill/>
        </p:spPr>
        <p:txBody>
          <a:bodyPr wrap="square" anchor="t" lIns="0" rIns="0" tIns="0" bIns="0">
            <a:spAutoFit/>
          </a:bodyPr>
          <a:lstStyle/>
          <a:p>
            <a:pPr algn="l">
              <a:spcAft>
                <a:spcPts val="600"/>
              </a:spcAft>
            </a:pPr>
            <a:r>
              <a:rPr sz="1400" b="1" i="0">
                <a:solidFill>
                  <a:srgbClr val="2A78D6"/>
                </a:solidFill>
                <a:latin typeface="Calibri"/>
              </a:rPr>
              <a:t>Hipótesis</a:t>
            </a:r>
          </a:p>
        </p:txBody>
      </p:sp>
      <p:sp>
        <p:nvSpPr>
          <p:cNvPr id="15" name="TextBox 14"/>
          <p:cNvSpPr txBox="1"/>
          <p:nvPr/>
        </p:nvSpPr>
        <p:spPr>
          <a:xfrm>
            <a:off x="2011680" y="5385816"/>
            <a:ext cx="3657600" cy="777240"/>
          </a:xfrm>
          <a:prstGeom prst="rect">
            <a:avLst/>
          </a:prstGeom>
          <a:noFill/>
        </p:spPr>
        <p:txBody>
          <a:bodyPr wrap="square" anchor="t" lIns="0" rIns="0" tIns="0" bIns="0">
            <a:spAutoFit/>
          </a:bodyPr>
          <a:lstStyle/>
          <a:p>
            <a:pPr algn="l">
              <a:spcAft>
                <a:spcPts val="600"/>
              </a:spcAft>
            </a:pPr>
            <a:r>
              <a:rPr sz="1400" b="0" i="0">
                <a:solidFill>
                  <a:srgbClr val="1B1B1B"/>
                </a:solidFill>
                <a:latin typeface="Calibri"/>
              </a:rPr>
              <a:t>la consulta estructurada conserva la necesidad; no se exige que la mejore</a:t>
            </a:r>
          </a:p>
        </p:txBody>
      </p:sp>
      <p:sp>
        <p:nvSpPr>
          <p:cNvPr id="16" name="Rounded Rectangle 15"/>
          <p:cNvSpPr/>
          <p:nvPr/>
        </p:nvSpPr>
        <p:spPr>
          <a:xfrm>
            <a:off x="6263640" y="1783080"/>
            <a:ext cx="5349240" cy="4480560"/>
          </a:xfrm>
          <a:prstGeom prst="roundRect">
            <a:avLst>
              <a:gd name="adj" fmla="val 6000"/>
            </a:avLst>
          </a:prstGeom>
          <a:solidFill>
            <a:srgbClr val="FD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37959" y="2011680"/>
            <a:ext cx="502920" cy="5029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8" name="TextBox 17"/>
          <p:cNvSpPr txBox="1"/>
          <p:nvPr/>
        </p:nvSpPr>
        <p:spPr>
          <a:xfrm>
            <a:off x="7223759" y="1993392"/>
            <a:ext cx="4206240" cy="365760"/>
          </a:xfrm>
          <a:prstGeom prst="rect">
            <a:avLst/>
          </a:prstGeom>
          <a:noFill/>
        </p:spPr>
        <p:txBody>
          <a:bodyPr wrap="square" anchor="t" lIns="0" rIns="0" tIns="0" bIns="0">
            <a:spAutoFit/>
          </a:bodyPr>
          <a:lstStyle/>
          <a:p>
            <a:pPr algn="l">
              <a:spcAft>
                <a:spcPts val="600"/>
              </a:spcAft>
            </a:pPr>
            <a:r>
              <a:rPr sz="2000" b="1" i="0">
                <a:solidFill>
                  <a:srgbClr val="0F2A4A"/>
                </a:solidFill>
                <a:latin typeface="Calibri"/>
              </a:rPr>
              <a:t>Exp. 2 · Tamaño del chunk</a:t>
            </a:r>
          </a:p>
        </p:txBody>
      </p:sp>
      <p:sp>
        <p:nvSpPr>
          <p:cNvPr id="19" name="TextBox 18"/>
          <p:cNvSpPr txBox="1"/>
          <p:nvPr/>
        </p:nvSpPr>
        <p:spPr>
          <a:xfrm>
            <a:off x="7223759" y="2359152"/>
            <a:ext cx="4206240" cy="274320"/>
          </a:xfrm>
          <a:prstGeom prst="rect">
            <a:avLst/>
          </a:prstGeom>
          <a:noFill/>
        </p:spPr>
        <p:txBody>
          <a:bodyPr wrap="square" anchor="t" lIns="0" rIns="0" tIns="0" bIns="0">
            <a:spAutoFit/>
          </a:bodyPr>
          <a:lstStyle/>
          <a:p>
            <a:pPr algn="l">
              <a:spcAft>
                <a:spcPts val="600"/>
              </a:spcAft>
            </a:pPr>
            <a:r>
              <a:rPr sz="1300" b="0" i="1">
                <a:solidFill>
                  <a:srgbClr val="52514E"/>
                </a:solidFill>
                <a:latin typeface="Calibri"/>
              </a:rPr>
              <a:t>sin prompts</a:t>
            </a:r>
          </a:p>
        </p:txBody>
      </p:sp>
      <p:sp>
        <p:nvSpPr>
          <p:cNvPr id="20" name="TextBox 19"/>
          <p:cNvSpPr txBox="1"/>
          <p:nvPr/>
        </p:nvSpPr>
        <p:spPr>
          <a:xfrm>
            <a:off x="6583679" y="2971800"/>
            <a:ext cx="1143000" cy="731520"/>
          </a:xfrm>
          <a:prstGeom prst="rect">
            <a:avLst/>
          </a:prstGeom>
          <a:noFill/>
        </p:spPr>
        <p:txBody>
          <a:bodyPr wrap="square" anchor="t" lIns="0" rIns="0" tIns="0" bIns="0">
            <a:spAutoFit/>
          </a:bodyPr>
          <a:lstStyle/>
          <a:p>
            <a:pPr algn="l">
              <a:spcAft>
                <a:spcPts val="600"/>
              </a:spcAft>
            </a:pPr>
            <a:r>
              <a:rPr sz="1400" b="1" i="0">
                <a:solidFill>
                  <a:srgbClr val="EB6834"/>
                </a:solidFill>
                <a:latin typeface="Calibri"/>
              </a:rPr>
              <a:t>Compara</a:t>
            </a:r>
          </a:p>
        </p:txBody>
      </p:sp>
      <p:sp>
        <p:nvSpPr>
          <p:cNvPr id="21" name="TextBox 20"/>
          <p:cNvSpPr txBox="1"/>
          <p:nvPr/>
        </p:nvSpPr>
        <p:spPr>
          <a:xfrm>
            <a:off x="7726679" y="2971800"/>
            <a:ext cx="3657600" cy="777240"/>
          </a:xfrm>
          <a:prstGeom prst="rect">
            <a:avLst/>
          </a:prstGeom>
          <a:noFill/>
        </p:spPr>
        <p:txBody>
          <a:bodyPr wrap="square" anchor="t" lIns="0" rIns="0" tIns="0" bIns="0">
            <a:spAutoFit/>
          </a:bodyPr>
          <a:lstStyle/>
          <a:p>
            <a:pPr algn="l">
              <a:spcAft>
                <a:spcPts val="600"/>
              </a:spcAft>
            </a:pPr>
            <a:r>
              <a:rPr sz="1400" b="0" i="0">
                <a:solidFill>
                  <a:srgbClr val="1B1B1B"/>
                </a:solidFill>
                <a:latin typeface="Calibri"/>
              </a:rPr>
              <a:t>small = 100 · baseline = 180 · large = 320 palabras</a:t>
            </a:r>
          </a:p>
        </p:txBody>
      </p:sp>
      <p:sp>
        <p:nvSpPr>
          <p:cNvPr id="22" name="TextBox 21"/>
          <p:cNvSpPr txBox="1"/>
          <p:nvPr/>
        </p:nvSpPr>
        <p:spPr>
          <a:xfrm>
            <a:off x="6583679" y="3776472"/>
            <a:ext cx="1143000" cy="731520"/>
          </a:xfrm>
          <a:prstGeom prst="rect">
            <a:avLst/>
          </a:prstGeom>
          <a:noFill/>
        </p:spPr>
        <p:txBody>
          <a:bodyPr wrap="square" anchor="t" lIns="0" rIns="0" tIns="0" bIns="0">
            <a:spAutoFit/>
          </a:bodyPr>
          <a:lstStyle/>
          <a:p>
            <a:pPr algn="l">
              <a:spcAft>
                <a:spcPts val="600"/>
              </a:spcAft>
            </a:pPr>
            <a:r>
              <a:rPr sz="1400" b="1" i="0">
                <a:solidFill>
                  <a:srgbClr val="EB6834"/>
                </a:solidFill>
                <a:latin typeface="Calibri"/>
              </a:rPr>
              <a:t>Fijos</a:t>
            </a:r>
          </a:p>
        </p:txBody>
      </p:sp>
      <p:sp>
        <p:nvSpPr>
          <p:cNvPr id="23" name="TextBox 22"/>
          <p:cNvSpPr txBox="1"/>
          <p:nvPr/>
        </p:nvSpPr>
        <p:spPr>
          <a:xfrm>
            <a:off x="7726679" y="3776472"/>
            <a:ext cx="3657600" cy="777240"/>
          </a:xfrm>
          <a:prstGeom prst="rect">
            <a:avLst/>
          </a:prstGeom>
          <a:noFill/>
        </p:spPr>
        <p:txBody>
          <a:bodyPr wrap="square" anchor="t" lIns="0" rIns="0" tIns="0" bIns="0">
            <a:spAutoFit/>
          </a:bodyPr>
          <a:lstStyle/>
          <a:p>
            <a:pPr algn="l">
              <a:spcAft>
                <a:spcPts val="600"/>
              </a:spcAft>
            </a:pPr>
            <a:r>
              <a:rPr sz="1400" b="0" i="0">
                <a:solidFill>
                  <a:srgbClr val="1B1B1B"/>
                </a:solidFill>
                <a:latin typeface="Calibri"/>
              </a:rPr>
              <a:t>corpus · consultas Q0 · qrels · overlap 1 · e5-small · L2 · producto interno · IndexFlatIP · k</a:t>
            </a:r>
          </a:p>
        </p:txBody>
      </p:sp>
      <p:sp>
        <p:nvSpPr>
          <p:cNvPr id="24" name="TextBox 23"/>
          <p:cNvSpPr txBox="1"/>
          <p:nvPr/>
        </p:nvSpPr>
        <p:spPr>
          <a:xfrm>
            <a:off x="6583679" y="4581144"/>
            <a:ext cx="1143000" cy="731520"/>
          </a:xfrm>
          <a:prstGeom prst="rect">
            <a:avLst/>
          </a:prstGeom>
          <a:noFill/>
        </p:spPr>
        <p:txBody>
          <a:bodyPr wrap="square" anchor="t" lIns="0" rIns="0" tIns="0" bIns="0">
            <a:spAutoFit/>
          </a:bodyPr>
          <a:lstStyle/>
          <a:p>
            <a:pPr algn="l">
              <a:spcAft>
                <a:spcPts val="600"/>
              </a:spcAft>
            </a:pPr>
            <a:r>
              <a:rPr sz="1400" b="1" i="0">
                <a:solidFill>
                  <a:srgbClr val="EB6834"/>
                </a:solidFill>
                <a:latin typeface="Calibri"/>
              </a:rPr>
              <a:t>Mide</a:t>
            </a:r>
          </a:p>
        </p:txBody>
      </p:sp>
      <p:sp>
        <p:nvSpPr>
          <p:cNvPr id="25" name="TextBox 24"/>
          <p:cNvSpPr txBox="1"/>
          <p:nvPr/>
        </p:nvSpPr>
        <p:spPr>
          <a:xfrm>
            <a:off x="7726679" y="4581144"/>
            <a:ext cx="3657600" cy="777240"/>
          </a:xfrm>
          <a:prstGeom prst="rect">
            <a:avLst/>
          </a:prstGeom>
          <a:noFill/>
        </p:spPr>
        <p:txBody>
          <a:bodyPr wrap="square" anchor="t" lIns="0" rIns="0" tIns="0" bIns="0">
            <a:spAutoFit/>
          </a:bodyPr>
          <a:lstStyle/>
          <a:p>
            <a:pPr algn="l">
              <a:spcAft>
                <a:spcPts val="600"/>
              </a:spcAft>
            </a:pPr>
            <a:r>
              <a:rPr sz="1400" b="0" i="0">
                <a:solidFill>
                  <a:srgbClr val="1B1B1B"/>
                </a:solidFill>
                <a:latin typeface="Calibri"/>
              </a:rPr>
              <a:t>Recall@1, Recall@3 (principal) y Recall@5, y el cambio por necesidad</a:t>
            </a:r>
          </a:p>
        </p:txBody>
      </p:sp>
      <p:sp>
        <p:nvSpPr>
          <p:cNvPr id="26" name="TextBox 25"/>
          <p:cNvSpPr txBox="1"/>
          <p:nvPr/>
        </p:nvSpPr>
        <p:spPr>
          <a:xfrm>
            <a:off x="6583679" y="5385816"/>
            <a:ext cx="1143000" cy="731520"/>
          </a:xfrm>
          <a:prstGeom prst="rect">
            <a:avLst/>
          </a:prstGeom>
          <a:noFill/>
        </p:spPr>
        <p:txBody>
          <a:bodyPr wrap="square" anchor="t" lIns="0" rIns="0" tIns="0" bIns="0">
            <a:spAutoFit/>
          </a:bodyPr>
          <a:lstStyle/>
          <a:p>
            <a:pPr algn="l">
              <a:spcAft>
                <a:spcPts val="600"/>
              </a:spcAft>
            </a:pPr>
            <a:r>
              <a:rPr sz="1400" b="1" i="0">
                <a:solidFill>
                  <a:srgbClr val="EB6834"/>
                </a:solidFill>
                <a:latin typeface="Calibri"/>
              </a:rPr>
              <a:t>Hipótesis</a:t>
            </a:r>
          </a:p>
        </p:txBody>
      </p:sp>
      <p:sp>
        <p:nvSpPr>
          <p:cNvPr id="27" name="TextBox 26"/>
          <p:cNvSpPr txBox="1"/>
          <p:nvPr/>
        </p:nvSpPr>
        <p:spPr>
          <a:xfrm>
            <a:off x="7726679" y="5385816"/>
            <a:ext cx="3657600" cy="777240"/>
          </a:xfrm>
          <a:prstGeom prst="rect">
            <a:avLst/>
          </a:prstGeom>
          <a:noFill/>
        </p:spPr>
        <p:txBody>
          <a:bodyPr wrap="square" anchor="t" lIns="0" rIns="0" tIns="0" bIns="0">
            <a:spAutoFit/>
          </a:bodyPr>
          <a:lstStyle/>
          <a:p>
            <a:pPr algn="l">
              <a:spcAft>
                <a:spcPts val="600"/>
              </a:spcAft>
            </a:pPr>
            <a:r>
              <a:rPr sz="1400" b="0" i="0">
                <a:solidFill>
                  <a:srgbClr val="1B1B1B"/>
                </a:solidFill>
                <a:latin typeface="Calibri"/>
              </a:rPr>
              <a:t>el chunk pequeño aísla un ítem, pero puede separar la evidencia de lo que la identifica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ítulo"/>
          <p:cNvSpPr txBox="1"/>
          <p:nvPr/>
        </p:nvSpPr>
        <p:spPr>
          <a:xfrm>
            <a:off x="548640" y="411480"/>
            <a:ext cx="11064240" cy="685800"/>
          </a:xfrm>
          <a:prstGeom prst="rect">
            <a:avLst/>
          </a:prstGeom>
          <a:noFill/>
        </p:spPr>
        <p:txBody>
          <a:bodyPr wrap="square" anchor="t" lIns="0" rIns="0" tIns="0" bIns="0">
            <a:spAutoFit/>
          </a:bodyPr>
          <a:lstStyle/>
          <a:p>
            <a:pPr algn="l">
              <a:spcAft>
                <a:spcPts val="600"/>
              </a:spcAft>
            </a:pPr>
            <a:r>
              <a:rPr sz="3200" b="1" i="0">
                <a:solidFill>
                  <a:srgbClr val="0F2A4A"/>
                </a:solidFill>
                <a:latin typeface="Calibri"/>
              </a:rPr>
              <a:t>Resultados y error de recuperación</a:t>
            </a:r>
          </a:p>
        </p:txBody>
      </p:sp>
      <p:sp>
        <p:nvSpPr>
          <p:cNvPr id="3" name="Subtítulo"/>
          <p:cNvSpPr txBox="1"/>
          <p:nvPr/>
        </p:nvSpPr>
        <p:spPr>
          <a:xfrm>
            <a:off x="548640" y="1078992"/>
            <a:ext cx="11064240" cy="411480"/>
          </a:xfrm>
          <a:prstGeom prst="rect">
            <a:avLst/>
          </a:prstGeom>
          <a:noFill/>
        </p:spPr>
        <p:txBody>
          <a:bodyPr wrap="square" anchor="t" lIns="0" rIns="0" tIns="0" bIns="0">
            <a:spAutoFit/>
          </a:bodyPr>
          <a:lstStyle/>
          <a:p>
            <a:pPr algn="l">
              <a:spcAft>
                <a:spcPts val="600"/>
              </a:spcAft>
            </a:pPr>
            <a:r>
              <a:rPr sz="1600" b="0" i="0">
                <a:solidFill>
                  <a:srgbClr val="52514E"/>
                </a:solidFill>
                <a:latin typeface="Calibri"/>
              </a:rPr>
              <a:t>Con chunks de 180 palabras se recupera más evidencia; Q1 recupera lo mismo que Q0 (mean R@3 = 0,47 en ambas)</a:t>
            </a:r>
          </a:p>
        </p:txBody>
      </p:sp>
      <p:graphicFrame>
        <p:nvGraphicFramePr>
          <p:cNvPr id="4" name="Chart 3"/>
          <p:cNvGraphicFramePr>
            <a:graphicFrameLocks noGrp="1"/>
          </p:cNvGraphicFramePr>
          <p:nvPr/>
        </p:nvGraphicFramePr>
        <p:xfrm>
          <a:off x="548640" y="1691640"/>
          <a:ext cx="5669280" cy="3154680"/>
        </p:xfrm>
        <a:graphic>
          <a:graphicData uri="http://schemas.openxmlformats.org/drawingml/2006/chart">
            <c:chart xmlns:c="http://schemas.openxmlformats.org/drawingml/2006/chart" r:id="rId2"/>
          </a:graphicData>
        </a:graphic>
      </p:graphicFrame>
      <p:graphicFrame>
        <p:nvGraphicFramePr>
          <p:cNvPr id="5" name="Table 4"/>
          <p:cNvGraphicFramePr>
            <a:graphicFrameLocks noGrp="1"/>
          </p:cNvGraphicFramePr>
          <p:nvPr/>
        </p:nvGraphicFramePr>
        <p:xfrm>
          <a:off x="548640" y="4983480"/>
          <a:ext cx="5669280" cy="1316736"/>
        </p:xfrm>
        <a:graphic>
          <a:graphicData uri="http://schemas.openxmlformats.org/drawingml/2006/table">
            <a:tbl>
              <a:tblPr firstRow="1" bandRow="1">
                <a:tableStyleId>{5C22544A-7EE6-4342-B048-85BDC9FD1C3A}</a:tableStyleId>
              </a:tblPr>
              <a:tblGrid>
                <a:gridCol w="1417320"/>
                <a:gridCol w="1417320"/>
                <a:gridCol w="1417320"/>
                <a:gridCol w="1417320"/>
              </a:tblGrid>
              <a:tr h="219456">
                <a:tc>
                  <a:txBody>
                    <a:bodyPr wrap="square"/>
                    <a:lstStyle/>
                    <a:p>
                      <a:pPr algn="l"/>
                      <a:r>
                        <a:rPr sz="1100" b="1">
                          <a:solidFill>
                            <a:srgbClr val="FFFFFF"/>
                          </a:solidFill>
                          <a:latin typeface="Calibri"/>
                        </a:rPr>
                        <a:t>R@3</a:t>
                      </a:r>
                    </a:p>
                  </a:txBody>
                  <a:tcPr marL="73152" marR="73152" marT="27432" marB="27432" anchor="ctr">
                    <a:solidFill>
                      <a:srgbClr val="2A78D6"/>
                    </a:solidFill>
                  </a:tcPr>
                </a:tc>
                <a:tc>
                  <a:txBody>
                    <a:bodyPr wrap="square"/>
                    <a:lstStyle/>
                    <a:p>
                      <a:pPr algn="ctr"/>
                      <a:r>
                        <a:rPr sz="1100" b="1">
                          <a:solidFill>
                            <a:srgbClr val="FFFFFF"/>
                          </a:solidFill>
                          <a:latin typeface="Calibri"/>
                        </a:rPr>
                        <a:t>small</a:t>
                      </a:r>
                    </a:p>
                  </a:txBody>
                  <a:tcPr marL="73152" marR="73152" marT="27432" marB="27432" anchor="ctr">
                    <a:solidFill>
                      <a:srgbClr val="2A78D6"/>
                    </a:solidFill>
                  </a:tcPr>
                </a:tc>
                <a:tc>
                  <a:txBody>
                    <a:bodyPr wrap="square"/>
                    <a:lstStyle/>
                    <a:p>
                      <a:pPr algn="ctr"/>
                      <a:r>
                        <a:rPr sz="1100" b="1">
                          <a:solidFill>
                            <a:srgbClr val="FFFFFF"/>
                          </a:solidFill>
                          <a:latin typeface="Calibri"/>
                        </a:rPr>
                        <a:t>base</a:t>
                      </a:r>
                    </a:p>
                  </a:txBody>
                  <a:tcPr marL="73152" marR="73152" marT="27432" marB="27432" anchor="ctr">
                    <a:solidFill>
                      <a:srgbClr val="2A78D6"/>
                    </a:solidFill>
                  </a:tcPr>
                </a:tc>
                <a:tc>
                  <a:txBody>
                    <a:bodyPr wrap="square"/>
                    <a:lstStyle/>
                    <a:p>
                      <a:pPr algn="ctr"/>
                      <a:r>
                        <a:rPr sz="1100" b="1">
                          <a:solidFill>
                            <a:srgbClr val="FFFFFF"/>
                          </a:solidFill>
                          <a:latin typeface="Calibri"/>
                        </a:rPr>
                        <a:t>large</a:t>
                      </a:r>
                    </a:p>
                  </a:txBody>
                  <a:tcPr marL="73152" marR="73152" marT="27432" marB="27432" anchor="ctr">
                    <a:solidFill>
                      <a:srgbClr val="2A78D6"/>
                    </a:solidFill>
                  </a:tcPr>
                </a:tc>
              </a:tr>
              <a:tr h="219456">
                <a:tc>
                  <a:txBody>
                    <a:bodyPr wrap="square"/>
                    <a:lstStyle/>
                    <a:p>
                      <a:pPr algn="l"/>
                      <a:r>
                        <a:rPr sz="1100" b="0">
                          <a:solidFill>
                            <a:srgbClr val="1B1B1B"/>
                          </a:solidFill>
                          <a:latin typeface="Calibri"/>
                        </a:rPr>
                        <a:t>N1</a:t>
                      </a:r>
                    </a:p>
                  </a:txBody>
                  <a:tcPr marL="73152" marR="73152" marT="27432" marB="27432" anchor="ctr">
                    <a:solidFill>
                      <a:srgbClr val="FFFFFF"/>
                    </a:solidFill>
                  </a:tcPr>
                </a:tc>
                <a:tc>
                  <a:txBody>
                    <a:bodyPr wrap="square"/>
                    <a:lstStyle/>
                    <a:p>
                      <a:pPr algn="ctr"/>
                      <a:r>
                        <a:rPr sz="1100" b="0">
                          <a:solidFill>
                            <a:srgbClr val="1B1B1B"/>
                          </a:solidFill>
                          <a:latin typeface="Calibri"/>
                        </a:rPr>
                        <a:t>0,5</a:t>
                      </a:r>
                    </a:p>
                  </a:txBody>
                  <a:tcPr marL="73152" marR="73152" marT="27432" marB="27432" anchor="ctr">
                    <a:solidFill>
                      <a:srgbClr val="FFFFFF"/>
                    </a:solidFill>
                  </a:tcPr>
                </a:tc>
                <a:tc>
                  <a:txBody>
                    <a:bodyPr wrap="square"/>
                    <a:lstStyle/>
                    <a:p>
                      <a:pPr algn="ctr"/>
                      <a:r>
                        <a:rPr sz="1100" b="0">
                          <a:solidFill>
                            <a:srgbClr val="1B1B1B"/>
                          </a:solidFill>
                          <a:latin typeface="Calibri"/>
                        </a:rPr>
                        <a:t>0,5</a:t>
                      </a:r>
                    </a:p>
                  </a:txBody>
                  <a:tcPr marL="73152" marR="73152" marT="27432" marB="27432" anchor="ctr">
                    <a:solidFill>
                      <a:srgbClr val="FFFFFF"/>
                    </a:solidFill>
                  </a:tcPr>
                </a:tc>
                <a:tc>
                  <a:txBody>
                    <a:bodyPr wrap="square"/>
                    <a:lstStyle/>
                    <a:p>
                      <a:pPr algn="ctr"/>
                      <a:r>
                        <a:rPr sz="1100" b="0">
                          <a:solidFill>
                            <a:srgbClr val="1B1B1B"/>
                          </a:solidFill>
                          <a:latin typeface="Calibri"/>
                        </a:rPr>
                        <a:t>0,5</a:t>
                      </a:r>
                    </a:p>
                  </a:txBody>
                  <a:tcPr marL="73152" marR="73152" marT="27432" marB="27432" anchor="ctr">
                    <a:solidFill>
                      <a:srgbClr val="FFFFFF"/>
                    </a:solidFill>
                  </a:tcPr>
                </a:tc>
              </a:tr>
              <a:tr h="219456">
                <a:tc>
                  <a:txBody>
                    <a:bodyPr wrap="square"/>
                    <a:lstStyle/>
                    <a:p>
                      <a:pPr algn="l"/>
                      <a:r>
                        <a:rPr sz="1100" b="1">
                          <a:solidFill>
                            <a:srgbClr val="1B1B1B"/>
                          </a:solidFill>
                          <a:latin typeface="Calibri"/>
                        </a:rPr>
                        <a:t>N2</a:t>
                      </a:r>
                    </a:p>
                  </a:txBody>
                  <a:tcPr marL="73152" marR="73152" marT="27432" marB="27432" anchor="ctr">
                    <a:solidFill>
                      <a:srgbClr val="EEF4FC"/>
                    </a:solidFill>
                  </a:tcPr>
                </a:tc>
                <a:tc>
                  <a:txBody>
                    <a:bodyPr wrap="square"/>
                    <a:lstStyle/>
                    <a:p>
                      <a:pPr algn="ctr"/>
                      <a:r>
                        <a:rPr sz="1100" b="0">
                          <a:solidFill>
                            <a:srgbClr val="1B1B1B"/>
                          </a:solidFill>
                          <a:latin typeface="Calibri"/>
                        </a:rPr>
                        <a:t>0</a:t>
                      </a:r>
                    </a:p>
                  </a:txBody>
                  <a:tcPr marL="73152" marR="73152" marT="27432" marB="27432" anchor="ctr">
                    <a:solidFill>
                      <a:srgbClr val="EEF4FC"/>
                    </a:solidFill>
                  </a:tcPr>
                </a:tc>
                <a:tc>
                  <a:txBody>
                    <a:bodyPr wrap="square"/>
                    <a:lstStyle/>
                    <a:p>
                      <a:pPr algn="ctr"/>
                      <a:r>
                        <a:rPr sz="1100" b="0">
                          <a:solidFill>
                            <a:srgbClr val="1B1B1B"/>
                          </a:solidFill>
                          <a:latin typeface="Calibri"/>
                        </a:rPr>
                        <a:t>0</a:t>
                      </a:r>
                    </a:p>
                  </a:txBody>
                  <a:tcPr marL="73152" marR="73152" marT="27432" marB="27432" anchor="ctr">
                    <a:solidFill>
                      <a:srgbClr val="EEF4FC"/>
                    </a:solidFill>
                  </a:tcPr>
                </a:tc>
                <a:tc>
                  <a:txBody>
                    <a:bodyPr wrap="square"/>
                    <a:lstStyle/>
                    <a:p>
                      <a:pPr algn="ctr"/>
                      <a:r>
                        <a:rPr sz="1100" b="0">
                          <a:solidFill>
                            <a:srgbClr val="1B1B1B"/>
                          </a:solidFill>
                          <a:latin typeface="Calibri"/>
                        </a:rPr>
                        <a:t>0</a:t>
                      </a:r>
                    </a:p>
                  </a:txBody>
                  <a:tcPr marL="73152" marR="73152" marT="27432" marB="27432" anchor="ctr">
                    <a:solidFill>
                      <a:srgbClr val="EEF4FC"/>
                    </a:solidFill>
                  </a:tcPr>
                </a:tc>
              </a:tr>
              <a:tr h="219456">
                <a:tc>
                  <a:txBody>
                    <a:bodyPr wrap="square"/>
                    <a:lstStyle/>
                    <a:p>
                      <a:pPr algn="l"/>
                      <a:r>
                        <a:rPr sz="1100" b="0">
                          <a:solidFill>
                            <a:srgbClr val="1B1B1B"/>
                          </a:solidFill>
                          <a:latin typeface="Calibri"/>
                        </a:rPr>
                        <a:t>N3</a:t>
                      </a:r>
                    </a:p>
                  </a:txBody>
                  <a:tcPr marL="73152" marR="73152" marT="27432" marB="27432" anchor="ctr">
                    <a:solidFill>
                      <a:srgbClr val="FFFFFF"/>
                    </a:solidFill>
                  </a:tcPr>
                </a:tc>
                <a:tc>
                  <a:txBody>
                    <a:bodyPr wrap="square"/>
                    <a:lstStyle/>
                    <a:p>
                      <a:pPr algn="ctr"/>
                      <a:r>
                        <a:rPr sz="1100" b="0">
                          <a:solidFill>
                            <a:srgbClr val="1B1B1B"/>
                          </a:solidFill>
                          <a:latin typeface="Calibri"/>
                        </a:rPr>
                        <a:t>0,5</a:t>
                      </a:r>
                    </a:p>
                  </a:txBody>
                  <a:tcPr marL="73152" marR="73152" marT="27432" marB="27432" anchor="ctr">
                    <a:solidFill>
                      <a:srgbClr val="FFFFFF"/>
                    </a:solidFill>
                  </a:tcPr>
                </a:tc>
                <a:tc>
                  <a:txBody>
                    <a:bodyPr wrap="square"/>
                    <a:lstStyle/>
                    <a:p>
                      <a:pPr algn="ctr"/>
                      <a:r>
                        <a:rPr sz="1100" b="0">
                          <a:solidFill>
                            <a:srgbClr val="1B1B1B"/>
                          </a:solidFill>
                          <a:latin typeface="Calibri"/>
                        </a:rPr>
                        <a:t>0,5</a:t>
                      </a:r>
                    </a:p>
                  </a:txBody>
                  <a:tcPr marL="73152" marR="73152" marT="27432" marB="27432" anchor="ctr">
                    <a:solidFill>
                      <a:srgbClr val="FFFFFF"/>
                    </a:solidFill>
                  </a:tcPr>
                </a:tc>
                <a:tc>
                  <a:txBody>
                    <a:bodyPr wrap="square"/>
                    <a:lstStyle/>
                    <a:p>
                      <a:pPr algn="ctr"/>
                      <a:r>
                        <a:rPr sz="1100" b="0">
                          <a:solidFill>
                            <a:srgbClr val="1B1B1B"/>
                          </a:solidFill>
                          <a:latin typeface="Calibri"/>
                        </a:rPr>
                        <a:t>0,5</a:t>
                      </a:r>
                    </a:p>
                  </a:txBody>
                  <a:tcPr marL="73152" marR="73152" marT="27432" marB="27432" anchor="ctr">
                    <a:solidFill>
                      <a:srgbClr val="FFFFFF"/>
                    </a:solidFill>
                  </a:tcPr>
                </a:tc>
              </a:tr>
              <a:tr h="219456">
                <a:tc>
                  <a:txBody>
                    <a:bodyPr wrap="square"/>
                    <a:lstStyle/>
                    <a:p>
                      <a:pPr algn="l"/>
                      <a:r>
                        <a:rPr sz="1100" b="0">
                          <a:solidFill>
                            <a:srgbClr val="1B1B1B"/>
                          </a:solidFill>
                          <a:latin typeface="Calibri"/>
                        </a:rPr>
                        <a:t>N4</a:t>
                      </a:r>
                    </a:p>
                  </a:txBody>
                  <a:tcPr marL="73152" marR="73152" marT="27432" marB="27432" anchor="ctr">
                    <a:solidFill>
                      <a:srgbClr val="EEF4FC"/>
                    </a:solidFill>
                  </a:tcPr>
                </a:tc>
                <a:tc>
                  <a:txBody>
                    <a:bodyPr wrap="square"/>
                    <a:lstStyle/>
                    <a:p>
                      <a:pPr algn="ctr"/>
                      <a:r>
                        <a:rPr sz="1100" b="0">
                          <a:solidFill>
                            <a:srgbClr val="1B1B1B"/>
                          </a:solidFill>
                          <a:latin typeface="Calibri"/>
                        </a:rPr>
                        <a:t>0</a:t>
                      </a:r>
                    </a:p>
                  </a:txBody>
                  <a:tcPr marL="73152" marR="73152" marT="27432" marB="27432" anchor="ctr">
                    <a:solidFill>
                      <a:srgbClr val="EEF4FC"/>
                    </a:solidFill>
                  </a:tcPr>
                </a:tc>
                <a:tc>
                  <a:txBody>
                    <a:bodyPr wrap="square"/>
                    <a:lstStyle/>
                    <a:p>
                      <a:pPr algn="ctr"/>
                      <a:r>
                        <a:rPr sz="1100" b="0">
                          <a:solidFill>
                            <a:srgbClr val="1B1B1B"/>
                          </a:solidFill>
                          <a:latin typeface="Calibri"/>
                        </a:rPr>
                        <a:t>0,33</a:t>
                      </a:r>
                    </a:p>
                  </a:txBody>
                  <a:tcPr marL="73152" marR="73152" marT="27432" marB="27432" anchor="ctr">
                    <a:solidFill>
                      <a:srgbClr val="EEF4FC"/>
                    </a:solidFill>
                  </a:tcPr>
                </a:tc>
                <a:tc>
                  <a:txBody>
                    <a:bodyPr wrap="square"/>
                    <a:lstStyle/>
                    <a:p>
                      <a:pPr algn="ctr"/>
                      <a:r>
                        <a:rPr sz="1100" b="0">
                          <a:solidFill>
                            <a:srgbClr val="1B1B1B"/>
                          </a:solidFill>
                          <a:latin typeface="Calibri"/>
                        </a:rPr>
                        <a:t>0</a:t>
                      </a:r>
                    </a:p>
                  </a:txBody>
                  <a:tcPr marL="73152" marR="73152" marT="27432" marB="27432" anchor="ctr">
                    <a:solidFill>
                      <a:srgbClr val="EEF4FC"/>
                    </a:solidFill>
                  </a:tcPr>
                </a:tc>
              </a:tr>
              <a:tr h="219456">
                <a:tc>
                  <a:txBody>
                    <a:bodyPr wrap="square"/>
                    <a:lstStyle/>
                    <a:p>
                      <a:pPr algn="l"/>
                      <a:r>
                        <a:rPr sz="1100" b="1">
                          <a:solidFill>
                            <a:srgbClr val="1B1B1B"/>
                          </a:solidFill>
                          <a:latin typeface="Calibri"/>
                        </a:rPr>
                        <a:t>N5</a:t>
                      </a:r>
                    </a:p>
                  </a:txBody>
                  <a:tcPr marL="73152" marR="73152" marT="27432" marB="27432" anchor="ctr">
                    <a:solidFill>
                      <a:srgbClr val="FFFFFF"/>
                    </a:solidFill>
                  </a:tcPr>
                </a:tc>
                <a:tc>
                  <a:txBody>
                    <a:bodyPr wrap="square"/>
                    <a:lstStyle/>
                    <a:p>
                      <a:pPr algn="ctr"/>
                      <a:r>
                        <a:rPr sz="1100" b="0">
                          <a:solidFill>
                            <a:srgbClr val="1B1B1B"/>
                          </a:solidFill>
                          <a:latin typeface="Calibri"/>
                        </a:rPr>
                        <a:t>0</a:t>
                      </a:r>
                    </a:p>
                  </a:txBody>
                  <a:tcPr marL="73152" marR="73152" marT="27432" marB="27432" anchor="ctr">
                    <a:solidFill>
                      <a:srgbClr val="FFFFFF"/>
                    </a:solidFill>
                  </a:tcPr>
                </a:tc>
                <a:tc>
                  <a:txBody>
                    <a:bodyPr wrap="square"/>
                    <a:lstStyle/>
                    <a:p>
                      <a:pPr algn="ctr"/>
                      <a:r>
                        <a:rPr sz="1100" b="0">
                          <a:solidFill>
                            <a:srgbClr val="1B1B1B"/>
                          </a:solidFill>
                          <a:latin typeface="Calibri"/>
                        </a:rPr>
                        <a:t>1</a:t>
                      </a:r>
                    </a:p>
                  </a:txBody>
                  <a:tcPr marL="73152" marR="73152" marT="27432" marB="27432" anchor="ctr">
                    <a:solidFill>
                      <a:srgbClr val="FFFFFF"/>
                    </a:solidFill>
                  </a:tcPr>
                </a:tc>
                <a:tc>
                  <a:txBody>
                    <a:bodyPr wrap="square"/>
                    <a:lstStyle/>
                    <a:p>
                      <a:pPr algn="ctr"/>
                      <a:r>
                        <a:rPr sz="1100" b="0">
                          <a:solidFill>
                            <a:srgbClr val="1B1B1B"/>
                          </a:solidFill>
                          <a:latin typeface="Calibri"/>
                        </a:rPr>
                        <a:t>1</a:t>
                      </a:r>
                    </a:p>
                  </a:txBody>
                  <a:tcPr marL="73152" marR="73152" marT="27432" marB="27432" anchor="ctr">
                    <a:solidFill>
                      <a:srgbClr val="FFFFFF"/>
                    </a:solidFill>
                  </a:tcPr>
                </a:tc>
              </a:tr>
            </a:tbl>
          </a:graphicData>
        </a:graphic>
      </p:graphicFrame>
      <p:sp>
        <p:nvSpPr>
          <p:cNvPr id="6" name="Rounded Rectangle 5"/>
          <p:cNvSpPr/>
          <p:nvPr/>
        </p:nvSpPr>
        <p:spPr>
          <a:xfrm>
            <a:off x="6583680" y="1783080"/>
            <a:ext cx="5029200" cy="2148840"/>
          </a:xfrm>
          <a:prstGeom prst="roundRect">
            <a:avLst>
              <a:gd name="adj" fmla="val 6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12280" y="1920240"/>
            <a:ext cx="4572000" cy="365760"/>
          </a:xfrm>
          <a:prstGeom prst="rect">
            <a:avLst/>
          </a:prstGeom>
          <a:noFill/>
        </p:spPr>
        <p:txBody>
          <a:bodyPr wrap="square" anchor="t" lIns="0" rIns="0" tIns="0" bIns="0">
            <a:spAutoFit/>
          </a:bodyPr>
          <a:lstStyle/>
          <a:p>
            <a:pPr algn="l">
              <a:spcAft>
                <a:spcPts val="600"/>
              </a:spcAft>
            </a:pPr>
            <a:r>
              <a:rPr sz="1700" b="1" i="0">
                <a:solidFill>
                  <a:srgbClr val="0F2A4A"/>
                </a:solidFill>
                <a:latin typeface="Calibri"/>
              </a:rPr>
              <a:t>N5 · el tamaño del chunk ayuda</a:t>
            </a:r>
          </a:p>
        </p:txBody>
      </p:sp>
      <p:sp>
        <p:nvSpPr>
          <p:cNvPr id="8" name="TextBox 7"/>
          <p:cNvSpPr txBox="1"/>
          <p:nvPr/>
        </p:nvSpPr>
        <p:spPr>
          <a:xfrm>
            <a:off x="6812280" y="2331720"/>
            <a:ext cx="4617720" cy="1554480"/>
          </a:xfrm>
          <a:prstGeom prst="rect">
            <a:avLst/>
          </a:prstGeom>
          <a:noFill/>
        </p:spPr>
        <p:txBody>
          <a:bodyPr wrap="square" anchor="t" lIns="0" rIns="0" tIns="0" bIns="0">
            <a:spAutoFit/>
          </a:bodyPr>
          <a:lstStyle/>
          <a:p>
            <a:pPr algn="l">
              <a:spcAft>
                <a:spcPts val="600"/>
              </a:spcAft>
            </a:pPr>
            <a:r>
              <a:rPr sz="1300" b="0" i="0">
                <a:solidFill>
                  <a:srgbClr val="1B1B1B"/>
                </a:solidFill>
                <a:latin typeface="Calibri"/>
              </a:rPr>
              <a:t>Con 100 palabras el top-1 es la ficha correcta (D05, 0,891), pero el chunk tiene convocatoria + ítem: la buena pro quedó en otro chunk → R@3 = 0.</a:t>
            </a:r>
          </a:p>
          <a:p>
            <a:pPr algn="l">
              <a:spcAft>
                <a:spcPts val="600"/>
              </a:spcAft>
            </a:pPr>
            <a:r>
              <a:rPr sz="1300" b="0" i="0">
                <a:solidFill>
                  <a:srgbClr val="1B1B1B"/>
                </a:solidFill>
                <a:latin typeface="Calibri"/>
              </a:rPr>
              <a:t>Con 180 la ficha entera cabe en un chunk → R@1 = 1. Documento ≠ fragmento.</a:t>
            </a:r>
          </a:p>
        </p:txBody>
      </p:sp>
      <p:sp>
        <p:nvSpPr>
          <p:cNvPr id="9" name="Rounded Rectangle 8"/>
          <p:cNvSpPr/>
          <p:nvPr/>
        </p:nvSpPr>
        <p:spPr>
          <a:xfrm>
            <a:off x="6583680" y="4114800"/>
            <a:ext cx="5029200" cy="2148840"/>
          </a:xfrm>
          <a:prstGeom prst="roundRect">
            <a:avLst>
              <a:gd name="adj" fmla="val 6000"/>
            </a:avLst>
          </a:prstGeom>
          <a:solidFill>
            <a:srgbClr val="FD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12280" y="4251960"/>
            <a:ext cx="4572000" cy="365760"/>
          </a:xfrm>
          <a:prstGeom prst="rect">
            <a:avLst/>
          </a:prstGeom>
          <a:noFill/>
        </p:spPr>
        <p:txBody>
          <a:bodyPr wrap="square" anchor="t" lIns="0" rIns="0" tIns="0" bIns="0">
            <a:spAutoFit/>
          </a:bodyPr>
          <a:lstStyle/>
          <a:p>
            <a:pPr algn="l">
              <a:spcAft>
                <a:spcPts val="600"/>
              </a:spcAft>
            </a:pPr>
            <a:r>
              <a:rPr sz="1700" b="1" i="0">
                <a:solidFill>
                  <a:srgbClr val="0F2A4A"/>
                </a:solidFill>
                <a:latin typeface="Calibri"/>
              </a:rPr>
              <a:t>N2 · error con cualquier tamaño</a:t>
            </a:r>
          </a:p>
        </p:txBody>
      </p:sp>
      <p:sp>
        <p:nvSpPr>
          <p:cNvPr id="11" name="TextBox 10"/>
          <p:cNvSpPr txBox="1"/>
          <p:nvPr/>
        </p:nvSpPr>
        <p:spPr>
          <a:xfrm>
            <a:off x="6812280" y="4663440"/>
            <a:ext cx="4617720" cy="1554480"/>
          </a:xfrm>
          <a:prstGeom prst="rect">
            <a:avLst/>
          </a:prstGeom>
          <a:noFill/>
        </p:spPr>
        <p:txBody>
          <a:bodyPr wrap="square" anchor="t" lIns="0" rIns="0" tIns="0" bIns="0">
            <a:spAutoFit/>
          </a:bodyPr>
          <a:lstStyle/>
          <a:p>
            <a:pPr algn="l">
              <a:spcAft>
                <a:spcPts val="600"/>
              </a:spcAft>
            </a:pPr>
            <a:r>
              <a:rPr sz="1300" b="0" i="0">
                <a:solidFill>
                  <a:srgbClr val="1B1B1B"/>
                </a:solidFill>
                <a:latin typeface="Calibri"/>
              </a:rPr>
              <a:t>La evidencia es una frase corta ("o equivalente") dentro de chunks de ~150 palabras: el embedding la diluye.</a:t>
            </a:r>
          </a:p>
          <a:p>
            <a:pPr algn="l">
              <a:spcAft>
                <a:spcPts val="600"/>
              </a:spcAft>
            </a:pPr>
            <a:r>
              <a:rPr sz="1300" b="0" i="0">
                <a:solidFill>
                  <a:srgbClr val="1B1B1B"/>
                </a:solidFill>
                <a:latin typeface="Calibri"/>
              </a:rPr>
              <a:t>Top-10 entre 0,851 y 0,838; el chunk relevante de D04 queda 8.º (0,840). Pide señal léxica: BM25 / híbrido.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2A4A"/>
        </a:solidFill>
        <a:effectLst/>
      </p:bgPr>
    </p:bg>
    <p:spTree>
      <p:nvGrpSpPr>
        <p:cNvPr id="1" name=""/>
        <p:cNvGrpSpPr/>
        <p:nvPr/>
      </p:nvGrpSpPr>
      <p:grpSpPr/>
      <p:sp>
        <p:nvSpPr>
          <p:cNvPr id="2" name="TextBox 1"/>
          <p:cNvSpPr txBox="1"/>
          <p:nvPr/>
        </p:nvSpPr>
        <p:spPr>
          <a:xfrm>
            <a:off x="548640" y="411480"/>
            <a:ext cx="11064240" cy="685800"/>
          </a:xfrm>
          <a:prstGeom prst="rect">
            <a:avLst/>
          </a:prstGeom>
          <a:noFill/>
        </p:spPr>
        <p:txBody>
          <a:bodyPr wrap="square" anchor="t" lIns="0" rIns="0" tIns="0" bIns="0">
            <a:spAutoFit/>
          </a:bodyPr>
          <a:lstStyle/>
          <a:p>
            <a:pPr algn="l">
              <a:spcAft>
                <a:spcPts val="600"/>
              </a:spcAft>
            </a:pPr>
            <a:r>
              <a:rPr sz="3200" b="1" i="0">
                <a:solidFill>
                  <a:srgbClr val="FFFFFF"/>
                </a:solidFill>
                <a:latin typeface="Calibri"/>
              </a:rPr>
              <a:t>Limitación y conclusión</a:t>
            </a:r>
          </a:p>
        </p:txBody>
      </p:sp>
      <p:sp>
        <p:nvSpPr>
          <p:cNvPr id="3" name="TextBox 2"/>
          <p:cNvSpPr txBox="1"/>
          <p:nvPr/>
        </p:nvSpPr>
        <p:spPr>
          <a:xfrm>
            <a:off x="548640" y="1097280"/>
            <a:ext cx="11064240" cy="411480"/>
          </a:xfrm>
          <a:prstGeom prst="rect">
            <a:avLst/>
          </a:prstGeom>
          <a:noFill/>
        </p:spPr>
        <p:txBody>
          <a:bodyPr wrap="square" anchor="t" lIns="0" rIns="0" tIns="0" bIns="0">
            <a:spAutoFit/>
          </a:bodyPr>
          <a:lstStyle/>
          <a:p>
            <a:pPr algn="l">
              <a:spcAft>
                <a:spcPts val="600"/>
              </a:spcAft>
            </a:pPr>
            <a:r>
              <a:rPr sz="1600" b="0" i="0">
                <a:solidFill>
                  <a:srgbClr val="CADCFC"/>
                </a:solidFill>
                <a:latin typeface="Calibri"/>
              </a:rPr>
              <a:t>Bajo este corpus, estas 5 necesidades, estos qrels y e5-small con IndexFlatIP</a:t>
            </a:r>
          </a:p>
        </p:txBody>
      </p:sp>
      <p:sp>
        <p:nvSpPr>
          <p:cNvPr id="4" name="Rounded Rectangle 3"/>
          <p:cNvSpPr/>
          <p:nvPr/>
        </p:nvSpPr>
        <p:spPr>
          <a:xfrm>
            <a:off x="548640" y="1783080"/>
            <a:ext cx="3520440" cy="1874519"/>
          </a:xfrm>
          <a:prstGeom prst="roundRect">
            <a:avLst>
              <a:gd name="adj" fmla="val 6000"/>
            </a:avLst>
          </a:prstGeom>
          <a:solidFill>
            <a:srgbClr val="1C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920240"/>
            <a:ext cx="3017520" cy="822960"/>
          </a:xfrm>
          <a:prstGeom prst="rect">
            <a:avLst/>
          </a:prstGeom>
          <a:noFill/>
        </p:spPr>
        <p:txBody>
          <a:bodyPr wrap="square" anchor="t" lIns="0" rIns="0" tIns="0" bIns="0">
            <a:spAutoFit/>
          </a:bodyPr>
          <a:lstStyle/>
          <a:p>
            <a:pPr algn="l">
              <a:spcAft>
                <a:spcPts val="600"/>
              </a:spcAft>
            </a:pPr>
            <a:r>
              <a:rPr sz="4000" b="1" i="0">
                <a:solidFill>
                  <a:srgbClr val="FFFFFF"/>
                </a:solidFill>
                <a:latin typeface="Calibri"/>
              </a:rPr>
              <a:t>5/5</a:t>
            </a:r>
          </a:p>
        </p:txBody>
      </p:sp>
      <p:sp>
        <p:nvSpPr>
          <p:cNvPr id="6" name="TextBox 5"/>
          <p:cNvSpPr txBox="1"/>
          <p:nvPr/>
        </p:nvSpPr>
        <p:spPr>
          <a:xfrm>
            <a:off x="822959" y="2788920"/>
            <a:ext cx="3017520" cy="777240"/>
          </a:xfrm>
          <a:prstGeom prst="rect">
            <a:avLst/>
          </a:prstGeom>
          <a:noFill/>
        </p:spPr>
        <p:txBody>
          <a:bodyPr wrap="square" anchor="t" lIns="0" rIns="0" tIns="0" bIns="0">
            <a:spAutoFit/>
          </a:bodyPr>
          <a:lstStyle/>
          <a:p>
            <a:pPr algn="l">
              <a:spcAft>
                <a:spcPts val="600"/>
              </a:spcAft>
            </a:pPr>
            <a:r>
              <a:rPr sz="1400" b="0" i="0">
                <a:solidFill>
                  <a:srgbClr val="CADCFC"/>
                </a:solidFill>
                <a:latin typeface="Calibri"/>
              </a:rPr>
              <a:t>salidas de Q1 schema-valid,
pero intención correcta 3/5</a:t>
            </a:r>
          </a:p>
        </p:txBody>
      </p:sp>
      <p:sp>
        <p:nvSpPr>
          <p:cNvPr id="7" name="Rounded Rectangle 6"/>
          <p:cNvSpPr/>
          <p:nvPr/>
        </p:nvSpPr>
        <p:spPr>
          <a:xfrm>
            <a:off x="4343400" y="1783080"/>
            <a:ext cx="3520440" cy="1874519"/>
          </a:xfrm>
          <a:prstGeom prst="roundRect">
            <a:avLst>
              <a:gd name="adj" fmla="val 6000"/>
            </a:avLst>
          </a:prstGeom>
          <a:solidFill>
            <a:srgbClr val="1C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920240"/>
            <a:ext cx="3017520" cy="822960"/>
          </a:xfrm>
          <a:prstGeom prst="rect">
            <a:avLst/>
          </a:prstGeom>
          <a:noFill/>
        </p:spPr>
        <p:txBody>
          <a:bodyPr wrap="square" anchor="t" lIns="0" rIns="0" tIns="0" bIns="0">
            <a:spAutoFit/>
          </a:bodyPr>
          <a:lstStyle/>
          <a:p>
            <a:pPr algn="l">
              <a:spcAft>
                <a:spcPts val="600"/>
              </a:spcAft>
            </a:pPr>
            <a:r>
              <a:rPr sz="4000" b="1" i="0">
                <a:solidFill>
                  <a:srgbClr val="FFFFFF"/>
                </a:solidFill>
                <a:latin typeface="Calibri"/>
              </a:rPr>
              <a:t>0,20 → 0,47</a:t>
            </a:r>
          </a:p>
        </p:txBody>
      </p:sp>
      <p:sp>
        <p:nvSpPr>
          <p:cNvPr id="9" name="TextBox 8"/>
          <p:cNvSpPr txBox="1"/>
          <p:nvPr/>
        </p:nvSpPr>
        <p:spPr>
          <a:xfrm>
            <a:off x="4617720" y="2788920"/>
            <a:ext cx="3017520" cy="777240"/>
          </a:xfrm>
          <a:prstGeom prst="rect">
            <a:avLst/>
          </a:prstGeom>
          <a:noFill/>
        </p:spPr>
        <p:txBody>
          <a:bodyPr wrap="square" anchor="t" lIns="0" rIns="0" tIns="0" bIns="0">
            <a:spAutoFit/>
          </a:bodyPr>
          <a:lstStyle/>
          <a:p>
            <a:pPr algn="l">
              <a:spcAft>
                <a:spcPts val="600"/>
              </a:spcAft>
            </a:pPr>
            <a:r>
              <a:rPr sz="1400" b="0" i="0">
                <a:solidFill>
                  <a:srgbClr val="CADCFC"/>
                </a:solidFill>
                <a:latin typeface="Calibri"/>
              </a:rPr>
              <a:t>mean Recall@3 al pasar
de 100 a 180 palabras</a:t>
            </a:r>
          </a:p>
        </p:txBody>
      </p:sp>
      <p:sp>
        <p:nvSpPr>
          <p:cNvPr id="10" name="Rounded Rectangle 9"/>
          <p:cNvSpPr/>
          <p:nvPr/>
        </p:nvSpPr>
        <p:spPr>
          <a:xfrm>
            <a:off x="8138160" y="1783080"/>
            <a:ext cx="3520440" cy="1874519"/>
          </a:xfrm>
          <a:prstGeom prst="roundRect">
            <a:avLst>
              <a:gd name="adj" fmla="val 6000"/>
            </a:avLst>
          </a:prstGeom>
          <a:solidFill>
            <a:srgbClr val="1C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1920240"/>
            <a:ext cx="3017520" cy="822960"/>
          </a:xfrm>
          <a:prstGeom prst="rect">
            <a:avLst/>
          </a:prstGeom>
          <a:noFill/>
        </p:spPr>
        <p:txBody>
          <a:bodyPr wrap="square" anchor="t" lIns="0" rIns="0" tIns="0" bIns="0">
            <a:spAutoFit/>
          </a:bodyPr>
          <a:lstStyle/>
          <a:p>
            <a:pPr algn="l">
              <a:spcAft>
                <a:spcPts val="600"/>
              </a:spcAft>
            </a:pPr>
            <a:r>
              <a:rPr sz="4000" b="1" i="0">
                <a:solidFill>
                  <a:srgbClr val="EB6834"/>
                </a:solidFill>
                <a:latin typeface="Calibri"/>
              </a:rPr>
              <a:t>0</a:t>
            </a:r>
          </a:p>
        </p:txBody>
      </p:sp>
      <p:sp>
        <p:nvSpPr>
          <p:cNvPr id="12" name="TextBox 11"/>
          <p:cNvSpPr txBox="1"/>
          <p:nvPr/>
        </p:nvSpPr>
        <p:spPr>
          <a:xfrm>
            <a:off x="8412480" y="2788920"/>
            <a:ext cx="3017520" cy="777240"/>
          </a:xfrm>
          <a:prstGeom prst="rect">
            <a:avLst/>
          </a:prstGeom>
          <a:noFill/>
        </p:spPr>
        <p:txBody>
          <a:bodyPr wrap="square" anchor="t" lIns="0" rIns="0" tIns="0" bIns="0">
            <a:spAutoFit/>
          </a:bodyPr>
          <a:lstStyle/>
          <a:p>
            <a:pPr algn="l">
              <a:spcAft>
                <a:spcPts val="600"/>
              </a:spcAft>
            </a:pPr>
            <a:r>
              <a:rPr sz="1400" b="0" i="0">
                <a:solidFill>
                  <a:srgbClr val="CADCFC"/>
                </a:solidFill>
                <a:latin typeface="Calibri"/>
              </a:rPr>
              <a:t>Recall@3 de N2 con los
tres tamaños de chunk</a:t>
            </a:r>
          </a:p>
        </p:txBody>
      </p:sp>
      <p:sp>
        <p:nvSpPr>
          <p:cNvPr id="13" name="TextBox 12"/>
          <p:cNvSpPr txBox="1"/>
          <p:nvPr/>
        </p:nvSpPr>
        <p:spPr>
          <a:xfrm>
            <a:off x="548640" y="3977639"/>
            <a:ext cx="5486400" cy="365760"/>
          </a:xfrm>
          <a:prstGeom prst="rect">
            <a:avLst/>
          </a:prstGeom>
          <a:noFill/>
        </p:spPr>
        <p:txBody>
          <a:bodyPr wrap="square" anchor="t" lIns="0" rIns="0" tIns="0" bIns="0">
            <a:spAutoFit/>
          </a:bodyPr>
          <a:lstStyle/>
          <a:p>
            <a:pPr algn="l">
              <a:spcAft>
                <a:spcPts val="600"/>
              </a:spcAft>
            </a:pPr>
            <a:r>
              <a:rPr sz="2000" b="1" i="0">
                <a:solidFill>
                  <a:srgbClr val="FFFFFF"/>
                </a:solidFill>
                <a:latin typeface="Calibri"/>
              </a:rPr>
              <a:t>Conclusión</a:t>
            </a:r>
          </a:p>
        </p:txBody>
      </p:sp>
      <p:sp>
        <p:nvSpPr>
          <p:cNvPr id="14" name="TextBox 13"/>
          <p:cNvSpPr txBox="1"/>
          <p:nvPr/>
        </p:nvSpPr>
        <p:spPr>
          <a:xfrm>
            <a:off x="548640" y="4389120"/>
            <a:ext cx="5486400" cy="1920240"/>
          </a:xfrm>
          <a:prstGeom prst="rect">
            <a:avLst/>
          </a:prstGeom>
          <a:noFill/>
        </p:spPr>
        <p:txBody>
          <a:bodyPr wrap="square" anchor="t" lIns="0" rIns="0" tIns="0" bIns="0">
            <a:spAutoFit/>
          </a:bodyPr>
          <a:lstStyle/>
          <a:p>
            <a:pPr algn="l">
              <a:spcAft>
                <a:spcPts val="600"/>
              </a:spcAft>
            </a:pPr>
            <a:r>
              <a:rPr sz="1400" b="0" i="0">
                <a:solidFill>
                  <a:srgbClr val="FFFFFF"/>
                </a:solidFill>
                <a:latin typeface="Calibri"/>
              </a:rPr>
              <a:t>El LLM conserva la necesidad (casi la copia) y no mejora la recuperación; el JSON válido no garantiza la intención correcta.</a:t>
            </a:r>
          </a:p>
          <a:p>
            <a:pPr algn="l">
              <a:spcAft>
                <a:spcPts val="600"/>
              </a:spcAft>
            </a:pPr>
            <a:r>
              <a:rPr sz="1400" b="0" i="0">
                <a:solidFill>
                  <a:srgbClr val="FFFFFF"/>
                </a:solidFill>
                <a:latin typeface="Calibri"/>
              </a:rPr>
              <a:t>El tamaño del chunk importa cuando la evidencia y lo que la identifica están en passages distintos.</a:t>
            </a:r>
          </a:p>
        </p:txBody>
      </p:sp>
      <p:sp>
        <p:nvSpPr>
          <p:cNvPr id="15" name="TextBox 14"/>
          <p:cNvSpPr txBox="1"/>
          <p:nvPr/>
        </p:nvSpPr>
        <p:spPr>
          <a:xfrm>
            <a:off x="6309360" y="3977639"/>
            <a:ext cx="5303520" cy="365760"/>
          </a:xfrm>
          <a:prstGeom prst="rect">
            <a:avLst/>
          </a:prstGeom>
          <a:noFill/>
        </p:spPr>
        <p:txBody>
          <a:bodyPr wrap="square" anchor="t" lIns="0" rIns="0" tIns="0" bIns="0">
            <a:spAutoFit/>
          </a:bodyPr>
          <a:lstStyle/>
          <a:p>
            <a:pPr algn="l">
              <a:spcAft>
                <a:spcPts val="600"/>
              </a:spcAft>
            </a:pPr>
            <a:r>
              <a:rPr sz="2000" b="1" i="0">
                <a:solidFill>
                  <a:srgbClr val="FFFFFF"/>
                </a:solidFill>
                <a:latin typeface="Calibri"/>
              </a:rPr>
              <a:t>Limitación</a:t>
            </a:r>
          </a:p>
        </p:txBody>
      </p:sp>
      <p:sp>
        <p:nvSpPr>
          <p:cNvPr id="16" name="TextBox 15"/>
          <p:cNvSpPr txBox="1"/>
          <p:nvPr/>
        </p:nvSpPr>
        <p:spPr>
          <a:xfrm>
            <a:off x="6309360" y="4389120"/>
            <a:ext cx="5303520" cy="1920240"/>
          </a:xfrm>
          <a:prstGeom prst="rect">
            <a:avLst/>
          </a:prstGeom>
          <a:noFill/>
        </p:spPr>
        <p:txBody>
          <a:bodyPr wrap="square" anchor="t" lIns="0" rIns="0" tIns="0" bIns="0">
            <a:spAutoFit/>
          </a:bodyPr>
          <a:lstStyle/>
          <a:p>
            <a:pPr algn="l">
              <a:spcAft>
                <a:spcPts val="600"/>
              </a:spcAft>
            </a:pPr>
            <a:r>
              <a:rPr sz="1400" b="0" i="0">
                <a:solidFill>
                  <a:srgbClr val="FFFFFF"/>
                </a:solidFill>
                <a:latin typeface="Calibri"/>
              </a:rPr>
              <a:t>5 necesidades y 10 fichas: un passage mueve el Recall medio entre 0,05 y 0,1. Qrels de un solo anotador.</a:t>
            </a:r>
          </a:p>
          <a:p>
            <a:pPr algn="l">
              <a:spcAft>
                <a:spcPts val="600"/>
              </a:spcAft>
            </a:pPr>
            <a:r>
              <a:rPr sz="1400" b="0" i="0">
                <a:solidFill>
                  <a:srgbClr val="FFFFFF"/>
                </a:solidFill>
                <a:latin typeface="Calibri"/>
              </a:rPr>
              <a:t>"large" quedó limitado por la ventana de 512 tokens (máx. real 257 palabras). No se generaliza un tamaño de chunk óptimo.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